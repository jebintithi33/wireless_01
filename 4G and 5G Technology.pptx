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5.svg" ContentType="image/svg+xml"/>
  <Override PartName="/ppt/media/image7.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8288000" cy="10287000"/>
  <p:notesSz cx="6858000" cy="9144000"/>
  <p:embeddedFontLst>
    <p:embeddedFont>
      <p:font typeface="Barlow" panose="00000500000000000000"/>
      <p:regular r:id="rId21"/>
    </p:embeddedFont>
    <p:embeddedFont>
      <p:font typeface="Barlow Bold" panose="00000800000000000000"/>
      <p:bold r:id="rId22"/>
    </p:embeddedFont>
    <p:embeddedFont>
      <p:font typeface="Barlow Light" panose="00000400000000000000"/>
      <p:regular r:id="rId23"/>
    </p:embeddedFont>
    <p:embeddedFont>
      <p:font typeface="Barlow Condensed Semi-Bold" panose="00000706000000000000"/>
      <p:bold r:id="rId24"/>
    </p:embeddedFont>
    <p:embeddedFont>
      <p:font typeface="Barlow Condensed" panose="00000506000000000000"/>
      <p:regular r:id="rId25"/>
    </p:embeddedFont>
    <p:embeddedFont>
      <p:font typeface="Barlow Condensed Bold" panose="00000806000000000000"/>
      <p:bold r:id="rId26"/>
    </p:embeddedFont>
    <p:embeddedFont>
      <p:font typeface="Calibri" panose="020F0502020204030204"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font" Target="fonts/font10.fntdata"/><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8001000" y="495300"/>
            <a:ext cx="1815465" cy="1836420"/>
          </a:xfrm>
          <a:custGeom>
            <a:avLst/>
            <a:gdLst/>
            <a:ahLst/>
            <a:cxnLst/>
            <a:rect l="l" t="t" r="r" b="b"/>
            <a:pathLst>
              <a:path w="1938493" h="1980563">
                <a:moveTo>
                  <a:pt x="0" y="0"/>
                </a:moveTo>
                <a:lnTo>
                  <a:pt x="1938493" y="0"/>
                </a:lnTo>
                <a:lnTo>
                  <a:pt x="1938493" y="1980563"/>
                </a:lnTo>
                <a:lnTo>
                  <a:pt x="0" y="1980563"/>
                </a:lnTo>
                <a:lnTo>
                  <a:pt x="0" y="0"/>
                </a:lnTo>
                <a:close/>
              </a:path>
            </a:pathLst>
          </a:custGeom>
          <a:blipFill>
            <a:blip r:embed="rId1"/>
            <a:stretch>
              <a:fillRect l="-1329" r="-1329"/>
            </a:stretch>
          </a:blipFill>
        </p:spPr>
      </p:sp>
      <p:sp>
        <p:nvSpPr>
          <p:cNvPr id="3" name="TextBox 3"/>
          <p:cNvSpPr txBox="1"/>
          <p:nvPr/>
        </p:nvSpPr>
        <p:spPr>
          <a:xfrm>
            <a:off x="914400" y="2355850"/>
            <a:ext cx="16470630" cy="2534920"/>
          </a:xfrm>
          <a:prstGeom prst="rect">
            <a:avLst/>
          </a:prstGeom>
        </p:spPr>
        <p:txBody>
          <a:bodyPr lIns="0" tIns="0" rIns="0" bIns="0" rtlCol="0" anchor="t">
            <a:noAutofit/>
          </a:bodyPr>
          <a:lstStyle/>
          <a:p>
            <a:pPr algn="ctr">
              <a:lnSpc>
                <a:spcPts val="6835"/>
              </a:lnSpc>
            </a:pPr>
            <a:r>
              <a:rPr lang="en-US" sz="4200">
                <a:solidFill>
                  <a:srgbClr val="FFFFFF"/>
                </a:solidFill>
                <a:latin typeface="Barlow" panose="00000500000000000000"/>
                <a:ea typeface="Barlow" panose="00000500000000000000"/>
                <a:cs typeface="Barlow" panose="00000500000000000000"/>
                <a:sym typeface="Barlow" panose="00000500000000000000"/>
              </a:rPr>
              <a:t>Presentation Title:Cellular Networks: Technologies like 4G (LTE) and 5G</a:t>
            </a:r>
            <a:endParaRPr lang="en-US" sz="4200">
              <a:solidFill>
                <a:srgbClr val="FFFFFF"/>
              </a:solidFill>
              <a:latin typeface="Barlow" panose="00000500000000000000"/>
              <a:ea typeface="Barlow" panose="00000500000000000000"/>
              <a:cs typeface="Barlow" panose="00000500000000000000"/>
              <a:sym typeface="Barlow" panose="00000500000000000000"/>
            </a:endParaRPr>
          </a:p>
          <a:p>
            <a:pPr algn="ctr">
              <a:lnSpc>
                <a:spcPts val="6835"/>
              </a:lnSpc>
            </a:pPr>
            <a:r>
              <a:rPr lang="en-US" sz="4200">
                <a:solidFill>
                  <a:srgbClr val="FFFFFF"/>
                </a:solidFill>
                <a:latin typeface="Barlow" panose="00000500000000000000"/>
                <a:ea typeface="Barlow" panose="00000500000000000000"/>
                <a:cs typeface="Barlow" panose="00000500000000000000"/>
                <a:sym typeface="Barlow" panose="00000500000000000000"/>
              </a:rPr>
              <a:t>Course Title: Wireless and Mobile Communication </a:t>
            </a:r>
            <a:endParaRPr lang="en-US" sz="4200">
              <a:solidFill>
                <a:srgbClr val="FFFFFF"/>
              </a:solidFill>
              <a:latin typeface="Barlow" panose="00000500000000000000"/>
              <a:ea typeface="Barlow" panose="00000500000000000000"/>
              <a:cs typeface="Barlow" panose="00000500000000000000"/>
              <a:sym typeface="Barlow" panose="00000500000000000000"/>
            </a:endParaRPr>
          </a:p>
          <a:p>
            <a:pPr algn="ctr">
              <a:lnSpc>
                <a:spcPts val="6835"/>
              </a:lnSpc>
              <a:spcBef>
                <a:spcPct val="0"/>
              </a:spcBef>
            </a:pPr>
            <a:r>
              <a:rPr lang="en-US" sz="4270">
                <a:solidFill>
                  <a:srgbClr val="FFFFFF"/>
                </a:solidFill>
                <a:latin typeface="Barlow" panose="00000500000000000000"/>
                <a:ea typeface="Barlow" panose="00000500000000000000"/>
                <a:cs typeface="Barlow" panose="00000500000000000000"/>
                <a:sym typeface="Barlow" panose="00000500000000000000"/>
              </a:rPr>
              <a:t>Course Code: ICT-4201</a:t>
            </a:r>
            <a:endParaRPr lang="en-US" sz="4270">
              <a:solidFill>
                <a:srgbClr val="FFFFFF"/>
              </a:solidFill>
              <a:latin typeface="Barlow" panose="00000500000000000000"/>
              <a:ea typeface="Barlow" panose="00000500000000000000"/>
              <a:cs typeface="Barlow" panose="00000500000000000000"/>
              <a:sym typeface="Barlow" panose="00000500000000000000"/>
            </a:endParaRPr>
          </a:p>
        </p:txBody>
      </p:sp>
      <p:sp>
        <p:nvSpPr>
          <p:cNvPr id="4" name="TextBox 4"/>
          <p:cNvSpPr txBox="1"/>
          <p:nvPr/>
        </p:nvSpPr>
        <p:spPr>
          <a:xfrm>
            <a:off x="699135" y="5143500"/>
            <a:ext cx="4210050" cy="4308475"/>
          </a:xfrm>
          <a:prstGeom prst="rect">
            <a:avLst/>
          </a:prstGeom>
        </p:spPr>
        <p:txBody>
          <a:bodyPr wrap="square" lIns="0" tIns="0" rIns="0" bIns="0" rtlCol="0" anchor="t">
            <a:spAutoFit/>
          </a:bodyPr>
          <a:lstStyle/>
          <a:p>
            <a:pPr algn="ctr">
              <a:lnSpc>
                <a:spcPts val="6720"/>
              </a:lnSpc>
            </a:pPr>
            <a:r>
              <a:rPr lang="en-US" sz="4200" b="1">
                <a:solidFill>
                  <a:srgbClr val="FFFFFF"/>
                </a:solidFill>
                <a:latin typeface="Barlow Bold" panose="00000800000000000000"/>
                <a:ea typeface="Barlow Bold" panose="00000800000000000000"/>
                <a:cs typeface="Barlow Bold" panose="00000800000000000000"/>
                <a:sym typeface="Barlow Bold" panose="00000800000000000000"/>
              </a:rPr>
              <a:t>Presented By:</a:t>
            </a:r>
            <a:endParaRPr lang="en-US" sz="4200" b="1">
              <a:solidFill>
                <a:srgbClr val="FFFFFF"/>
              </a:solidFill>
              <a:latin typeface="Barlow Bold" panose="00000800000000000000"/>
              <a:ea typeface="Barlow Bold" panose="00000800000000000000"/>
              <a:cs typeface="Barlow Bold" panose="00000800000000000000"/>
              <a:sym typeface="Barlow Bold" panose="00000800000000000000"/>
            </a:endParaRPr>
          </a:p>
          <a:p>
            <a:pPr algn="ctr">
              <a:lnSpc>
                <a:spcPts val="6720"/>
              </a:lnSpc>
              <a:spcBef>
                <a:spcPct val="0"/>
              </a:spcBef>
            </a:pPr>
            <a:r>
              <a:rPr lang="en-US" sz="4200">
                <a:solidFill>
                  <a:srgbClr val="FFFFFF"/>
                </a:solidFill>
                <a:latin typeface="Barlow" panose="00000500000000000000"/>
                <a:ea typeface="Barlow" panose="00000500000000000000"/>
                <a:cs typeface="Barlow" panose="00000500000000000000"/>
                <a:sym typeface="Barlow" panose="00000500000000000000"/>
              </a:rPr>
              <a:t>Jebin Akter Tithi</a:t>
            </a:r>
            <a:endParaRPr lang="en-US" sz="4200">
              <a:solidFill>
                <a:srgbClr val="FFFFFF"/>
              </a:solidFill>
              <a:latin typeface="Barlow" panose="00000500000000000000"/>
              <a:ea typeface="Barlow" panose="00000500000000000000"/>
              <a:cs typeface="Barlow" panose="00000500000000000000"/>
              <a:sym typeface="Barlow" panose="00000500000000000000"/>
            </a:endParaRPr>
          </a:p>
          <a:p>
            <a:pPr algn="ctr">
              <a:lnSpc>
                <a:spcPts val="6720"/>
              </a:lnSpc>
              <a:spcBef>
                <a:spcPct val="0"/>
              </a:spcBef>
            </a:pPr>
            <a:r>
              <a:rPr lang="en-US" sz="4200">
                <a:solidFill>
                  <a:srgbClr val="FFFFFF"/>
                </a:solidFill>
                <a:latin typeface="Barlow Light" panose="00000400000000000000"/>
                <a:ea typeface="Barlow Light" panose="00000400000000000000"/>
                <a:cs typeface="Barlow Light" panose="00000400000000000000"/>
                <a:sym typeface="Barlow Light" panose="00000400000000000000"/>
              </a:rPr>
              <a:t>IT-21033</a:t>
            </a:r>
            <a:endParaRPr lang="en-US" sz="420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ctr">
              <a:lnSpc>
                <a:spcPts val="6720"/>
              </a:lnSpc>
              <a:spcBef>
                <a:spcPct val="0"/>
              </a:spcBef>
            </a:pPr>
            <a:r>
              <a:rPr lang="en-US" sz="4200">
                <a:solidFill>
                  <a:srgbClr val="FFFFFF"/>
                </a:solidFill>
                <a:latin typeface="Barlow Light" panose="00000400000000000000"/>
                <a:ea typeface="Barlow Light" panose="00000400000000000000"/>
                <a:cs typeface="Barlow Light" panose="00000400000000000000"/>
                <a:sym typeface="Barlow Light" panose="00000400000000000000"/>
              </a:rPr>
              <a:t>Dept. of ICT,</a:t>
            </a:r>
            <a:endParaRPr lang="en-US" sz="420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ctr">
              <a:lnSpc>
                <a:spcPts val="6720"/>
              </a:lnSpc>
              <a:spcBef>
                <a:spcPct val="0"/>
              </a:spcBef>
            </a:pPr>
            <a:r>
              <a:rPr lang="en-US" sz="4200">
                <a:solidFill>
                  <a:srgbClr val="FFFFFF"/>
                </a:solidFill>
                <a:latin typeface="Barlow Light" panose="00000400000000000000"/>
                <a:ea typeface="Barlow Light" panose="00000400000000000000"/>
                <a:cs typeface="Barlow Light" panose="00000400000000000000"/>
                <a:sym typeface="Barlow Light" panose="00000400000000000000"/>
              </a:rPr>
              <a:t>MBSTU</a:t>
            </a:r>
          </a:p>
        </p:txBody>
      </p:sp>
      <p:sp>
        <p:nvSpPr>
          <p:cNvPr id="5" name="TextBox 5"/>
          <p:cNvSpPr txBox="1"/>
          <p:nvPr/>
        </p:nvSpPr>
        <p:spPr>
          <a:xfrm>
            <a:off x="12420600" y="5372100"/>
            <a:ext cx="4885690" cy="4660900"/>
          </a:xfrm>
          <a:prstGeom prst="rect">
            <a:avLst/>
          </a:prstGeom>
        </p:spPr>
        <p:txBody>
          <a:bodyPr lIns="0" tIns="0" rIns="0" bIns="0" rtlCol="0" anchor="t">
            <a:noAutofit/>
          </a:bodyPr>
          <a:lstStyle/>
          <a:p>
            <a:pPr algn="ctr">
              <a:lnSpc>
                <a:spcPts val="6720"/>
              </a:lnSpc>
              <a:spcBef>
                <a:spcPct val="0"/>
              </a:spcBef>
            </a:pPr>
            <a:r>
              <a:rPr lang="en-US" sz="4200" b="1">
                <a:solidFill>
                  <a:srgbClr val="FFFFFF"/>
                </a:solidFill>
                <a:latin typeface="Barlow Bold" panose="00000800000000000000"/>
                <a:ea typeface="Barlow Bold" panose="00000800000000000000"/>
                <a:cs typeface="Barlow Bold" panose="00000800000000000000"/>
                <a:sym typeface="Barlow Bold" panose="00000800000000000000"/>
              </a:rPr>
              <a:t>Supervised By:</a:t>
            </a:r>
            <a:endParaRPr lang="en-US" sz="4200" b="1">
              <a:solidFill>
                <a:srgbClr val="FFFFFF"/>
              </a:solidFill>
              <a:latin typeface="Barlow Bold" panose="00000800000000000000"/>
              <a:ea typeface="Barlow Bold" panose="00000800000000000000"/>
              <a:cs typeface="Barlow Bold" panose="00000800000000000000"/>
              <a:sym typeface="Barlow Bold" panose="00000800000000000000"/>
            </a:endParaRPr>
          </a:p>
          <a:p>
            <a:pPr algn="ctr">
              <a:lnSpc>
                <a:spcPts val="6720"/>
              </a:lnSpc>
              <a:spcBef>
                <a:spcPct val="0"/>
              </a:spcBef>
            </a:pPr>
            <a:r>
              <a:rPr lang="en-US" sz="4200">
                <a:solidFill>
                  <a:srgbClr val="FFFFFF"/>
                </a:solidFill>
                <a:latin typeface="Barlow Light" panose="00000400000000000000"/>
                <a:ea typeface="Barlow Light" panose="00000400000000000000"/>
                <a:cs typeface="Barlow Light" panose="00000400000000000000"/>
                <a:sym typeface="Barlow Light" panose="00000400000000000000"/>
              </a:rPr>
              <a:t>Dr. Nazrul Islam</a:t>
            </a:r>
            <a:endParaRPr lang="en-US" sz="420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ctr">
              <a:lnSpc>
                <a:spcPts val="6720"/>
              </a:lnSpc>
              <a:spcBef>
                <a:spcPct val="0"/>
              </a:spcBef>
            </a:pPr>
            <a:r>
              <a:rPr lang="en-US" sz="4200">
                <a:solidFill>
                  <a:srgbClr val="FFFFFF"/>
                </a:solidFill>
                <a:latin typeface="Barlow Light" panose="00000400000000000000"/>
                <a:ea typeface="Barlow Light" panose="00000400000000000000"/>
                <a:cs typeface="Barlow Light" panose="00000400000000000000"/>
                <a:sym typeface="Barlow Light" panose="00000400000000000000"/>
              </a:rPr>
              <a:t>Associate Professor</a:t>
            </a:r>
            <a:endParaRPr lang="en-US" sz="420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ctr">
              <a:lnSpc>
                <a:spcPts val="6720"/>
              </a:lnSpc>
              <a:spcBef>
                <a:spcPct val="0"/>
              </a:spcBef>
            </a:pPr>
            <a:r>
              <a:rPr lang="en-US" sz="4200">
                <a:solidFill>
                  <a:srgbClr val="FFFFFF"/>
                </a:solidFill>
                <a:latin typeface="Barlow Light" panose="00000400000000000000"/>
                <a:ea typeface="Barlow Light" panose="00000400000000000000"/>
                <a:cs typeface="Barlow Light" panose="00000400000000000000"/>
                <a:sym typeface="Barlow Light" panose="00000400000000000000"/>
              </a:rPr>
              <a:t>Dept. of ICT,</a:t>
            </a:r>
            <a:endParaRPr lang="en-US" sz="420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ctr">
              <a:lnSpc>
                <a:spcPts val="6720"/>
              </a:lnSpc>
              <a:spcBef>
                <a:spcPct val="0"/>
              </a:spcBef>
            </a:pPr>
            <a:r>
              <a:rPr lang="en-US" sz="4200">
                <a:solidFill>
                  <a:srgbClr val="FFFFFF"/>
                </a:solidFill>
                <a:latin typeface="Barlow Light" panose="00000400000000000000"/>
                <a:ea typeface="Barlow Light" panose="00000400000000000000"/>
                <a:cs typeface="Barlow Light" panose="00000400000000000000"/>
                <a:sym typeface="Barlow Light" panose="00000400000000000000"/>
              </a:rPr>
              <a:t> MBSTU</a:t>
            </a:r>
            <a:endParaRPr lang="en-US" sz="420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5064760" y="308610"/>
            <a:ext cx="7809230" cy="1530350"/>
          </a:xfrm>
          <a:prstGeom prst="rect">
            <a:avLst/>
          </a:prstGeom>
        </p:spPr>
        <p:txBody>
          <a:bodyPr lIns="0" tIns="0" rIns="0" bIns="0" rtlCol="0" anchor="t">
            <a:noAutofit/>
          </a:bodyPr>
          <a:lstStyle/>
          <a:p>
            <a:pPr algn="l">
              <a:lnSpc>
                <a:spcPts val="8520"/>
              </a:lnSpc>
              <a:spcBef>
                <a:spcPct val="0"/>
              </a:spcBef>
            </a:pPr>
            <a:r>
              <a:rPr lang="en-US" sz="7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  Presentation Overview</a:t>
            </a:r>
            <a:endParaRPr lang="en-US" sz="7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
        <p:nvSpPr>
          <p:cNvPr id="3" name="TextBox 3"/>
          <p:cNvSpPr txBox="1"/>
          <p:nvPr/>
        </p:nvSpPr>
        <p:spPr>
          <a:xfrm>
            <a:off x="2314391" y="2197675"/>
            <a:ext cx="14469437" cy="6381750"/>
          </a:xfrm>
          <a:prstGeom prst="rect">
            <a:avLst/>
          </a:prstGeom>
        </p:spPr>
        <p:txBody>
          <a:bodyPr lIns="0" tIns="0" rIns="0" bIns="0" rtlCol="0" anchor="t">
            <a:spAutoFit/>
          </a:bodyPr>
          <a:lstStyle/>
          <a:p>
            <a:pPr marL="906780" lvl="1" indent="-453390" algn="l">
              <a:lnSpc>
                <a:spcPts val="5040"/>
              </a:lnSpc>
              <a:spcBef>
                <a:spcPct val="0"/>
              </a:spcBef>
              <a:buAutoNum type="arabicPeriod"/>
            </a:pPr>
            <a:r>
              <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rPr>
              <a:t>Introduction t</a:t>
            </a:r>
            <a:r>
              <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rPr>
              <a:t>o Cellular Networks</a:t>
            </a:r>
            <a:endPar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906780" lvl="1" indent="-453390" algn="l">
              <a:lnSpc>
                <a:spcPts val="5040"/>
              </a:lnSpc>
              <a:spcBef>
                <a:spcPct val="0"/>
              </a:spcBef>
              <a:buAutoNum type="arabicPeriod"/>
            </a:pPr>
            <a:r>
              <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rPr>
              <a:t>Evolution of Cellular Networks</a:t>
            </a:r>
            <a:endPar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906780" lvl="1" indent="-453390" algn="l">
              <a:lnSpc>
                <a:spcPts val="5040"/>
              </a:lnSpc>
              <a:spcBef>
                <a:spcPct val="0"/>
              </a:spcBef>
              <a:buAutoNum type="arabicPeriod"/>
            </a:pPr>
            <a:r>
              <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rPr>
              <a:t>What is 4G (LTE)?</a:t>
            </a:r>
            <a:endPar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906780" lvl="1" indent="-453390" algn="l">
              <a:lnSpc>
                <a:spcPts val="5040"/>
              </a:lnSpc>
              <a:spcBef>
                <a:spcPct val="0"/>
              </a:spcBef>
              <a:buAutoNum type="arabicPeriod"/>
            </a:pPr>
            <a:r>
              <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rPr>
              <a:t>What is 5G Technology?</a:t>
            </a:r>
            <a:endPar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906780" lvl="1" indent="-453390" algn="l">
              <a:lnSpc>
                <a:spcPts val="5040"/>
              </a:lnSpc>
              <a:spcBef>
                <a:spcPct val="0"/>
              </a:spcBef>
              <a:buAutoNum type="arabicPeriod"/>
            </a:pPr>
            <a:r>
              <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rPr>
              <a:t>4G vs 5G: Real-Life Impact</a:t>
            </a:r>
            <a:endPar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906780" lvl="1" indent="-453390" algn="l">
              <a:lnSpc>
                <a:spcPts val="5040"/>
              </a:lnSpc>
              <a:spcBef>
                <a:spcPct val="0"/>
              </a:spcBef>
              <a:buAutoNum type="arabicPeriod"/>
            </a:pPr>
            <a:r>
              <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rPr>
              <a:t>Why 5G is Better Than 4G</a:t>
            </a:r>
            <a:endPar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906780" lvl="1" indent="-453390" algn="l">
              <a:lnSpc>
                <a:spcPts val="5040"/>
              </a:lnSpc>
              <a:spcBef>
                <a:spcPct val="0"/>
              </a:spcBef>
              <a:buAutoNum type="arabicPeriod"/>
            </a:pPr>
            <a:r>
              <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rPr>
              <a:t>Benefits of 5G for Businesses</a:t>
            </a:r>
            <a:endPar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906780" lvl="1" indent="-453390" algn="l">
              <a:lnSpc>
                <a:spcPts val="5040"/>
              </a:lnSpc>
              <a:spcBef>
                <a:spcPct val="0"/>
              </a:spcBef>
              <a:buAutoNum type="arabicPeriod"/>
            </a:pPr>
            <a:r>
              <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rPr>
              <a:t>Challenges in 5G Implementation</a:t>
            </a:r>
            <a:endPar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906780" lvl="1" indent="-453390" algn="l">
              <a:lnSpc>
                <a:spcPts val="5040"/>
              </a:lnSpc>
              <a:spcBef>
                <a:spcPct val="0"/>
              </a:spcBef>
              <a:buAutoNum type="arabicPeriod"/>
            </a:pPr>
            <a:r>
              <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rPr>
              <a:t>Trends and the Future of Telecommunications</a:t>
            </a:r>
            <a:endParaRPr lang="en-US" sz="42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algn="l">
              <a:lnSpc>
                <a:spcPts val="5040"/>
              </a:lnSpc>
              <a:spcBef>
                <a:spcPct val="0"/>
              </a:spcBef>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1887200" y="0"/>
            <a:ext cx="6400800" cy="10287000"/>
          </a:xfrm>
          <a:custGeom>
            <a:avLst/>
            <a:gdLst/>
            <a:ahLst/>
            <a:cxnLst/>
            <a:rect l="l" t="t" r="r" b="b"/>
            <a:pathLst>
              <a:path w="6400800" h="10287000">
                <a:moveTo>
                  <a:pt x="0" y="0"/>
                </a:moveTo>
                <a:lnTo>
                  <a:pt x="6400800" y="0"/>
                </a:lnTo>
                <a:lnTo>
                  <a:pt x="6400800" y="10287000"/>
                </a:lnTo>
                <a:lnTo>
                  <a:pt x="0" y="10287000"/>
                </a:lnTo>
                <a:lnTo>
                  <a:pt x="0" y="0"/>
                </a:lnTo>
                <a:close/>
              </a:path>
            </a:pathLst>
          </a:custGeom>
          <a:blipFill>
            <a:blip r:embed="rId1"/>
            <a:stretch>
              <a:fillRect l="-140996"/>
            </a:stretch>
          </a:blipFill>
        </p:spPr>
      </p:sp>
      <p:grpSp>
        <p:nvGrpSpPr>
          <p:cNvPr id="3" name="Group 3"/>
          <p:cNvGrpSpPr/>
          <p:nvPr/>
        </p:nvGrpSpPr>
        <p:grpSpPr>
          <a:xfrm rot="0">
            <a:off x="653420" y="1238250"/>
            <a:ext cx="7785039" cy="8020050"/>
            <a:chOff x="0" y="0"/>
            <a:chExt cx="10380052" cy="10693400"/>
          </a:xfrm>
        </p:grpSpPr>
        <p:sp>
          <p:nvSpPr>
            <p:cNvPr id="4" name="TextBox 4"/>
            <p:cNvSpPr txBox="1"/>
            <p:nvPr/>
          </p:nvSpPr>
          <p:spPr>
            <a:xfrm>
              <a:off x="0" y="0"/>
              <a:ext cx="10380052" cy="2870200"/>
            </a:xfrm>
            <a:prstGeom prst="rect">
              <a:avLst/>
            </a:prstGeom>
          </p:spPr>
          <p:txBody>
            <a:bodyPr lIns="0" tIns="0" rIns="0" bIns="0" rtlCol="0" anchor="t">
              <a:spAutoFit/>
            </a:bodyPr>
            <a:lstStyle/>
            <a:p>
              <a:pPr algn="l">
                <a:lnSpc>
                  <a:spcPts val="8520"/>
                </a:lnSpc>
              </a:pPr>
              <a:r>
                <a:rPr lang="en-US" sz="7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Introduction</a:t>
              </a:r>
              <a:r>
                <a:rPr lang="en-US" sz="7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 to Cellular Networks</a:t>
              </a:r>
              <a:endParaRPr lang="en-US" sz="7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
          <p:nvSpPr>
            <p:cNvPr id="5" name="TextBox 5"/>
            <p:cNvSpPr txBox="1"/>
            <p:nvPr/>
          </p:nvSpPr>
          <p:spPr>
            <a:xfrm>
              <a:off x="0" y="3764915"/>
              <a:ext cx="10380052" cy="6928485"/>
            </a:xfrm>
            <a:prstGeom prst="rect">
              <a:avLst/>
            </a:prstGeom>
          </p:spPr>
          <p:txBody>
            <a:bodyPr lIns="0" tIns="0" rIns="0" bIns="0" rtlCol="0" anchor="t">
              <a:spAutoFit/>
            </a:bodyPr>
            <a:lstStyle/>
            <a:p>
              <a:pPr algn="l">
                <a:lnSpc>
                  <a:spcPts val="4200"/>
                </a:lnSpc>
              </a:pPr>
              <a:r>
                <a:rPr lang="en-US" sz="2800">
                  <a:solidFill>
                    <a:srgbClr val="FFFFFF"/>
                  </a:solidFill>
                  <a:latin typeface="Barlow Light" panose="00000400000000000000"/>
                  <a:ea typeface="Barlow Light" panose="00000400000000000000"/>
                  <a:cs typeface="Barlow Light" panose="00000400000000000000"/>
                  <a:sym typeface="Barlow Light" panose="00000400000000000000"/>
                </a:rPr>
                <a:t>Cellular networks are communication systems that divide geographic areas into small units called cells.</a:t>
              </a:r>
              <a:endParaRPr lang="en-US" sz="280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l">
                <a:lnSpc>
                  <a:spcPts val="4200"/>
                </a:lnSpc>
              </a:pPr>
              <a:r>
                <a:rPr lang="en-US" sz="2800">
                  <a:solidFill>
                    <a:srgbClr val="FFFFFF"/>
                  </a:solidFill>
                  <a:latin typeface="Barlow Light" panose="00000400000000000000"/>
                  <a:ea typeface="Barlow Light" panose="00000400000000000000"/>
                  <a:cs typeface="Barlow Light" panose="00000400000000000000"/>
                  <a:sym typeface="Barlow Light" panose="00000400000000000000"/>
                </a:rPr>
                <a:t> Each cell is served by a base station (or cell tower) that connects mobile devices to the network using radio signals.</a:t>
              </a:r>
              <a:endParaRPr lang="en-US" sz="280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l">
                <a:lnSpc>
                  <a:spcPts val="4200"/>
                </a:lnSpc>
              </a:pPr>
              <a:r>
                <a:rPr lang="en-US" sz="2800">
                  <a:solidFill>
                    <a:srgbClr val="FFFFFF"/>
                  </a:solidFill>
                  <a:latin typeface="Barlow Light" panose="00000400000000000000"/>
                  <a:ea typeface="Barlow Light" panose="00000400000000000000"/>
                  <a:cs typeface="Barlow Light" panose="00000400000000000000"/>
                  <a:sym typeface="Barlow Light" panose="00000400000000000000"/>
                </a:rPr>
                <a:t> These networks enable wireless voice calls, text messaging, and internet access without the need for wired connections.</a:t>
              </a:r>
              <a:endParaRPr lang="en-US" sz="280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l">
                <a:lnSpc>
                  <a:spcPts val="4200"/>
                </a:lnSpc>
              </a:p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rot="0">
            <a:off x="1219200" y="4350938"/>
            <a:ext cx="927320" cy="927320"/>
            <a:chOff x="0" y="0"/>
            <a:chExt cx="6355080" cy="6355080"/>
          </a:xfrm>
        </p:grpSpPr>
        <p:sp>
          <p:nvSpPr>
            <p:cNvPr id="3" name="Freeform 3"/>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EC0DA"/>
            </a:solidFill>
          </p:spPr>
        </p:sp>
      </p:grpSp>
      <p:sp>
        <p:nvSpPr>
          <p:cNvPr id="4" name="TextBox 4"/>
          <p:cNvSpPr txBox="1"/>
          <p:nvPr/>
        </p:nvSpPr>
        <p:spPr>
          <a:xfrm>
            <a:off x="1028700" y="1019175"/>
            <a:ext cx="15597945" cy="1114425"/>
          </a:xfrm>
          <a:prstGeom prst="rect">
            <a:avLst/>
          </a:prstGeom>
        </p:spPr>
        <p:txBody>
          <a:bodyPr lIns="0" tIns="0" rIns="0" bIns="0" rtlCol="0" anchor="t">
            <a:spAutoFit/>
          </a:bodyPr>
          <a:lstStyle/>
          <a:p>
            <a:pPr algn="l">
              <a:lnSpc>
                <a:spcPts val="8760"/>
              </a:lnSpc>
            </a:pPr>
            <a:r>
              <a:rPr lang="en-US" sz="73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 Ev</a:t>
            </a:r>
            <a:r>
              <a:rPr lang="en-US" sz="73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olution of Cellular Networks</a:t>
            </a:r>
            <a:endParaRPr lang="en-US" sz="73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
        <p:nvSpPr>
          <p:cNvPr id="5" name="TextBox 5"/>
          <p:cNvSpPr txBox="1"/>
          <p:nvPr/>
        </p:nvSpPr>
        <p:spPr>
          <a:xfrm>
            <a:off x="4614373" y="7351941"/>
            <a:ext cx="2459408" cy="1136703"/>
          </a:xfrm>
          <a:prstGeom prst="rect">
            <a:avLst/>
          </a:prstGeom>
        </p:spPr>
        <p:txBody>
          <a:bodyPr lIns="0" tIns="0" rIns="0" bIns="0" rtlCol="0" anchor="t">
            <a:spAutoFit/>
          </a:bodyPr>
          <a:lstStyle/>
          <a:p>
            <a:pPr algn="l">
              <a:lnSpc>
                <a:spcPts val="3080"/>
              </a:lnSpc>
            </a:pPr>
            <a:r>
              <a:rPr lang="en-US" sz="2200">
                <a:solidFill>
                  <a:srgbClr val="FFFFFF"/>
                </a:solidFill>
                <a:latin typeface="Barlow Light" panose="00000400000000000000"/>
                <a:ea typeface="Barlow Light" panose="00000400000000000000"/>
                <a:cs typeface="Barlow Light" panose="00000400000000000000"/>
                <a:sym typeface="Barlow Light" panose="00000400000000000000"/>
              </a:rPr>
              <a:t>GSM, GPRS and EDGE advancements</a:t>
            </a:r>
            <a:endParaRPr lang="en-US" sz="220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6" name="TextBox 6"/>
          <p:cNvSpPr txBox="1"/>
          <p:nvPr/>
        </p:nvSpPr>
        <p:spPr>
          <a:xfrm>
            <a:off x="4614373" y="5470286"/>
            <a:ext cx="2459408" cy="465776"/>
          </a:xfrm>
          <a:prstGeom prst="rect">
            <a:avLst/>
          </a:prstGeom>
        </p:spPr>
        <p:txBody>
          <a:bodyPr lIns="0" tIns="0" rIns="0" bIns="0" rtlCol="0" anchor="t">
            <a:spAutoFit/>
          </a:bodyPr>
          <a:lstStyle/>
          <a:p>
            <a:pPr algn="l">
              <a:lnSpc>
                <a:spcPts val="3840"/>
              </a:lnSpc>
            </a:pPr>
            <a:r>
              <a:rPr lang="en-US" sz="2400">
                <a:solidFill>
                  <a:srgbClr val="FFFFFF"/>
                </a:solidFill>
                <a:latin typeface="Barlow Light" panose="00000400000000000000"/>
                <a:ea typeface="Barlow Light" panose="00000400000000000000"/>
                <a:cs typeface="Barlow Light" panose="00000400000000000000"/>
                <a:sym typeface="Barlow Light" panose="00000400000000000000"/>
              </a:rPr>
              <a:t>1990s</a:t>
            </a:r>
            <a:endParaRPr lang="en-US" sz="240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7" name="TextBox 7"/>
          <p:cNvSpPr txBox="1"/>
          <p:nvPr/>
        </p:nvSpPr>
        <p:spPr>
          <a:xfrm>
            <a:off x="1377950" y="4511877"/>
            <a:ext cx="609820" cy="538767"/>
          </a:xfrm>
          <a:prstGeom prst="rect">
            <a:avLst/>
          </a:prstGeom>
        </p:spPr>
        <p:txBody>
          <a:bodyPr lIns="0" tIns="0" rIns="0" bIns="0" rtlCol="0" anchor="t">
            <a:spAutoFit/>
          </a:bodyPr>
          <a:lstStyle/>
          <a:p>
            <a:pPr algn="ctr">
              <a:lnSpc>
                <a:spcPts val="4340"/>
              </a:lnSpc>
            </a:pPr>
            <a:r>
              <a:rPr lang="en-US" sz="3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1G</a:t>
            </a:r>
            <a:endParaRPr lang="en-US" sz="3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
        <p:nvSpPr>
          <p:cNvPr id="8" name="TextBox 8"/>
          <p:cNvSpPr txBox="1"/>
          <p:nvPr/>
        </p:nvSpPr>
        <p:spPr>
          <a:xfrm>
            <a:off x="1219200" y="7351941"/>
            <a:ext cx="2459408" cy="1098550"/>
          </a:xfrm>
          <a:prstGeom prst="rect">
            <a:avLst/>
          </a:prstGeom>
        </p:spPr>
        <p:txBody>
          <a:bodyPr lIns="0" tIns="0" rIns="0" bIns="0" rtlCol="0" anchor="t">
            <a:spAutoFit/>
          </a:bodyPr>
          <a:lstStyle/>
          <a:p>
            <a:pPr algn="l">
              <a:lnSpc>
                <a:spcPts val="2975"/>
              </a:lnSpc>
            </a:pPr>
            <a:r>
              <a:rPr lang="en-US" sz="2125">
                <a:solidFill>
                  <a:srgbClr val="FFFFFF"/>
                </a:solidFill>
                <a:latin typeface="Barlow Light" panose="00000400000000000000"/>
                <a:ea typeface="Barlow Light" panose="00000400000000000000"/>
                <a:cs typeface="Barlow Light" panose="00000400000000000000"/>
                <a:sym typeface="Barlow Light" panose="00000400000000000000"/>
              </a:rPr>
              <a:t>A network limited to only voice call capabilities.</a:t>
            </a:r>
            <a:endParaRPr lang="en-US" sz="2125">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9" name="TextBox 9"/>
          <p:cNvSpPr txBox="1"/>
          <p:nvPr/>
        </p:nvSpPr>
        <p:spPr>
          <a:xfrm>
            <a:off x="1219200" y="5470286"/>
            <a:ext cx="2459408" cy="465776"/>
          </a:xfrm>
          <a:prstGeom prst="rect">
            <a:avLst/>
          </a:prstGeom>
        </p:spPr>
        <p:txBody>
          <a:bodyPr lIns="0" tIns="0" rIns="0" bIns="0" rtlCol="0" anchor="t">
            <a:spAutoFit/>
          </a:bodyPr>
          <a:lstStyle/>
          <a:p>
            <a:pPr algn="l">
              <a:lnSpc>
                <a:spcPts val="3840"/>
              </a:lnSpc>
            </a:pPr>
            <a:r>
              <a:rPr lang="en-US" sz="2400">
                <a:solidFill>
                  <a:srgbClr val="FFFFFF"/>
                </a:solidFill>
                <a:latin typeface="Barlow Light" panose="00000400000000000000"/>
                <a:ea typeface="Barlow Light" panose="00000400000000000000"/>
                <a:cs typeface="Barlow Light" panose="00000400000000000000"/>
                <a:sym typeface="Barlow Light" panose="00000400000000000000"/>
              </a:rPr>
              <a:t>1980s</a:t>
            </a:r>
            <a:endParaRPr lang="en-US" sz="240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10" name="TextBox 10"/>
          <p:cNvSpPr txBox="1"/>
          <p:nvPr/>
        </p:nvSpPr>
        <p:spPr>
          <a:xfrm>
            <a:off x="8009546" y="7351941"/>
            <a:ext cx="2459408" cy="1906359"/>
          </a:xfrm>
          <a:prstGeom prst="rect">
            <a:avLst/>
          </a:prstGeom>
        </p:spPr>
        <p:txBody>
          <a:bodyPr lIns="0" tIns="0" rIns="0" bIns="0" rtlCol="0" anchor="t">
            <a:spAutoFit/>
          </a:bodyPr>
          <a:lstStyle/>
          <a:p>
            <a:pPr algn="l">
              <a:lnSpc>
                <a:spcPts val="3080"/>
              </a:lnSpc>
            </a:pPr>
            <a:r>
              <a:rPr lang="en-US" sz="2200">
                <a:solidFill>
                  <a:srgbClr val="FFFFFF"/>
                </a:solidFill>
                <a:latin typeface="Barlow Light" panose="00000400000000000000"/>
                <a:ea typeface="Barlow Light" panose="00000400000000000000"/>
                <a:cs typeface="Barlow Light" panose="00000400000000000000"/>
                <a:sym typeface="Barlow Light" panose="00000400000000000000"/>
              </a:rPr>
              <a:t>Allowed faster communication, web browsing and video streaming in smartphones</a:t>
            </a:r>
            <a:endParaRPr lang="en-US" sz="220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11" name="TextBox 11"/>
          <p:cNvSpPr txBox="1"/>
          <p:nvPr/>
        </p:nvSpPr>
        <p:spPr>
          <a:xfrm>
            <a:off x="8009546" y="5470286"/>
            <a:ext cx="2459408" cy="465776"/>
          </a:xfrm>
          <a:prstGeom prst="rect">
            <a:avLst/>
          </a:prstGeom>
        </p:spPr>
        <p:txBody>
          <a:bodyPr lIns="0" tIns="0" rIns="0" bIns="0" rtlCol="0" anchor="t">
            <a:spAutoFit/>
          </a:bodyPr>
          <a:lstStyle/>
          <a:p>
            <a:pPr algn="l">
              <a:lnSpc>
                <a:spcPts val="3840"/>
              </a:lnSpc>
            </a:pPr>
            <a:r>
              <a:rPr lang="en-US" sz="2400">
                <a:solidFill>
                  <a:srgbClr val="FFFFFF"/>
                </a:solidFill>
                <a:latin typeface="Barlow Light" panose="00000400000000000000"/>
                <a:ea typeface="Barlow Light" panose="00000400000000000000"/>
                <a:cs typeface="Barlow Light" panose="00000400000000000000"/>
                <a:sym typeface="Barlow Light" panose="00000400000000000000"/>
              </a:rPr>
              <a:t>2000s</a:t>
            </a:r>
            <a:endParaRPr lang="en-US" sz="240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12" name="TextBox 12"/>
          <p:cNvSpPr txBox="1"/>
          <p:nvPr/>
        </p:nvSpPr>
        <p:spPr>
          <a:xfrm>
            <a:off x="11404719" y="7351941"/>
            <a:ext cx="2577832" cy="1521531"/>
          </a:xfrm>
          <a:prstGeom prst="rect">
            <a:avLst/>
          </a:prstGeom>
        </p:spPr>
        <p:txBody>
          <a:bodyPr lIns="0" tIns="0" rIns="0" bIns="0" rtlCol="0" anchor="t">
            <a:spAutoFit/>
          </a:bodyPr>
          <a:lstStyle/>
          <a:p>
            <a:pPr algn="l">
              <a:lnSpc>
                <a:spcPts val="3080"/>
              </a:lnSpc>
            </a:pPr>
            <a:r>
              <a:rPr lang="en-US" sz="2200">
                <a:solidFill>
                  <a:srgbClr val="FFFFFF"/>
                </a:solidFill>
                <a:latin typeface="Barlow Light" panose="00000400000000000000"/>
                <a:ea typeface="Barlow Light" panose="00000400000000000000"/>
                <a:cs typeface="Barlow Light" panose="00000400000000000000"/>
                <a:sym typeface="Barlow Light" panose="00000400000000000000"/>
              </a:rPr>
              <a:t>Greatly impacted the requirements set by IMT-Advanced standards.</a:t>
            </a:r>
            <a:endParaRPr lang="en-US" sz="220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13" name="TextBox 13"/>
          <p:cNvSpPr txBox="1"/>
          <p:nvPr/>
        </p:nvSpPr>
        <p:spPr>
          <a:xfrm>
            <a:off x="11404719" y="5470286"/>
            <a:ext cx="2459408" cy="465776"/>
          </a:xfrm>
          <a:prstGeom prst="rect">
            <a:avLst/>
          </a:prstGeom>
        </p:spPr>
        <p:txBody>
          <a:bodyPr lIns="0" tIns="0" rIns="0" bIns="0" rtlCol="0" anchor="t">
            <a:spAutoFit/>
          </a:bodyPr>
          <a:lstStyle/>
          <a:p>
            <a:pPr algn="l">
              <a:lnSpc>
                <a:spcPts val="3840"/>
              </a:lnSpc>
            </a:pPr>
            <a:r>
              <a:rPr lang="en-US" sz="2400">
                <a:solidFill>
                  <a:srgbClr val="FFFFFF"/>
                </a:solidFill>
                <a:latin typeface="Barlow Light" panose="00000400000000000000"/>
                <a:ea typeface="Barlow Light" panose="00000400000000000000"/>
                <a:cs typeface="Barlow Light" panose="00000400000000000000"/>
                <a:sym typeface="Barlow Light" panose="00000400000000000000"/>
              </a:rPr>
              <a:t>2010s</a:t>
            </a:r>
            <a:endParaRPr lang="en-US" sz="240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14" name="TextBox 14"/>
          <p:cNvSpPr txBox="1"/>
          <p:nvPr/>
        </p:nvSpPr>
        <p:spPr>
          <a:xfrm>
            <a:off x="14799892" y="7351941"/>
            <a:ext cx="2459408" cy="1521531"/>
          </a:xfrm>
          <a:prstGeom prst="rect">
            <a:avLst/>
          </a:prstGeom>
        </p:spPr>
        <p:txBody>
          <a:bodyPr lIns="0" tIns="0" rIns="0" bIns="0" rtlCol="0" anchor="t">
            <a:spAutoFit/>
          </a:bodyPr>
          <a:lstStyle/>
          <a:p>
            <a:pPr algn="l">
              <a:lnSpc>
                <a:spcPts val="3080"/>
              </a:lnSpc>
            </a:pPr>
            <a:r>
              <a:rPr lang="en-US" sz="2200">
                <a:solidFill>
                  <a:srgbClr val="FFFFFF"/>
                </a:solidFill>
                <a:latin typeface="Barlow Light" panose="00000400000000000000"/>
                <a:ea typeface="Barlow Light" panose="00000400000000000000"/>
                <a:cs typeface="Barlow Light" panose="00000400000000000000"/>
                <a:sym typeface="Barlow Light" panose="00000400000000000000"/>
              </a:rPr>
              <a:t>Significantly faster speeds with lower requirements to support IoT devices</a:t>
            </a:r>
            <a:endParaRPr lang="en-US" sz="220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15" name="TextBox 15"/>
          <p:cNvSpPr txBox="1"/>
          <p:nvPr/>
        </p:nvSpPr>
        <p:spPr>
          <a:xfrm>
            <a:off x="14799892" y="5470286"/>
            <a:ext cx="2459408" cy="465776"/>
          </a:xfrm>
          <a:prstGeom prst="rect">
            <a:avLst/>
          </a:prstGeom>
        </p:spPr>
        <p:txBody>
          <a:bodyPr lIns="0" tIns="0" rIns="0" bIns="0" rtlCol="0" anchor="t">
            <a:spAutoFit/>
          </a:bodyPr>
          <a:lstStyle/>
          <a:p>
            <a:pPr algn="l">
              <a:lnSpc>
                <a:spcPts val="3840"/>
              </a:lnSpc>
            </a:pPr>
            <a:r>
              <a:rPr lang="en-US" sz="2400">
                <a:solidFill>
                  <a:srgbClr val="FFFFFF"/>
                </a:solidFill>
                <a:latin typeface="Barlow Light" panose="00000400000000000000"/>
                <a:ea typeface="Barlow Light" panose="00000400000000000000"/>
                <a:cs typeface="Barlow Light" panose="00000400000000000000"/>
                <a:sym typeface="Barlow Light" panose="00000400000000000000"/>
              </a:rPr>
              <a:t>Current</a:t>
            </a:r>
            <a:endParaRPr lang="en-US" sz="240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grpSp>
        <p:nvGrpSpPr>
          <p:cNvPr id="16" name="Group 16"/>
          <p:cNvGrpSpPr>
            <a:grpSpLocks noChangeAspect="1"/>
          </p:cNvGrpSpPr>
          <p:nvPr/>
        </p:nvGrpSpPr>
        <p:grpSpPr>
          <a:xfrm rot="0">
            <a:off x="4614373" y="4350938"/>
            <a:ext cx="927320" cy="927320"/>
            <a:chOff x="0" y="0"/>
            <a:chExt cx="6355080" cy="6355080"/>
          </a:xfrm>
        </p:grpSpPr>
        <p:sp>
          <p:nvSpPr>
            <p:cNvPr id="17" name="Freeform 17"/>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EC0DA"/>
            </a:solidFill>
          </p:spPr>
        </p:sp>
      </p:grpSp>
      <p:sp>
        <p:nvSpPr>
          <p:cNvPr id="18" name="TextBox 18"/>
          <p:cNvSpPr txBox="1"/>
          <p:nvPr/>
        </p:nvSpPr>
        <p:spPr>
          <a:xfrm>
            <a:off x="4773123" y="4511877"/>
            <a:ext cx="609820" cy="538767"/>
          </a:xfrm>
          <a:prstGeom prst="rect">
            <a:avLst/>
          </a:prstGeom>
        </p:spPr>
        <p:txBody>
          <a:bodyPr lIns="0" tIns="0" rIns="0" bIns="0" rtlCol="0" anchor="t">
            <a:spAutoFit/>
          </a:bodyPr>
          <a:lstStyle/>
          <a:p>
            <a:pPr algn="ctr">
              <a:lnSpc>
                <a:spcPts val="4340"/>
              </a:lnSpc>
            </a:pPr>
            <a:r>
              <a:rPr lang="en-US" sz="3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2G</a:t>
            </a:r>
            <a:endParaRPr lang="en-US" sz="3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grpSp>
        <p:nvGrpSpPr>
          <p:cNvPr id="19" name="Group 19"/>
          <p:cNvGrpSpPr>
            <a:grpSpLocks noChangeAspect="1"/>
          </p:cNvGrpSpPr>
          <p:nvPr/>
        </p:nvGrpSpPr>
        <p:grpSpPr>
          <a:xfrm rot="0">
            <a:off x="8009546" y="4350938"/>
            <a:ext cx="927320" cy="927320"/>
            <a:chOff x="0" y="0"/>
            <a:chExt cx="6355080" cy="6355080"/>
          </a:xfrm>
        </p:grpSpPr>
        <p:sp>
          <p:nvSpPr>
            <p:cNvPr id="20" name="Freeform 20"/>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EC0DA"/>
            </a:solidFill>
          </p:spPr>
        </p:sp>
      </p:grpSp>
      <p:sp>
        <p:nvSpPr>
          <p:cNvPr id="21" name="TextBox 21"/>
          <p:cNvSpPr txBox="1"/>
          <p:nvPr/>
        </p:nvSpPr>
        <p:spPr>
          <a:xfrm>
            <a:off x="8168296" y="4511877"/>
            <a:ext cx="609820" cy="538767"/>
          </a:xfrm>
          <a:prstGeom prst="rect">
            <a:avLst/>
          </a:prstGeom>
        </p:spPr>
        <p:txBody>
          <a:bodyPr lIns="0" tIns="0" rIns="0" bIns="0" rtlCol="0" anchor="t">
            <a:spAutoFit/>
          </a:bodyPr>
          <a:lstStyle/>
          <a:p>
            <a:pPr algn="ctr">
              <a:lnSpc>
                <a:spcPts val="4340"/>
              </a:lnSpc>
            </a:pPr>
            <a:r>
              <a:rPr lang="en-US" sz="3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3G</a:t>
            </a:r>
            <a:endParaRPr lang="en-US" sz="3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grpSp>
        <p:nvGrpSpPr>
          <p:cNvPr id="22" name="Group 22"/>
          <p:cNvGrpSpPr>
            <a:grpSpLocks noChangeAspect="1"/>
          </p:cNvGrpSpPr>
          <p:nvPr/>
        </p:nvGrpSpPr>
        <p:grpSpPr>
          <a:xfrm rot="0">
            <a:off x="11404719" y="4350938"/>
            <a:ext cx="927320" cy="927320"/>
            <a:chOff x="0" y="0"/>
            <a:chExt cx="6355080" cy="6355080"/>
          </a:xfrm>
        </p:grpSpPr>
        <p:sp>
          <p:nvSpPr>
            <p:cNvPr id="23" name="Freeform 23"/>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EC0DA"/>
            </a:solidFill>
          </p:spPr>
        </p:sp>
      </p:grpSp>
      <p:sp>
        <p:nvSpPr>
          <p:cNvPr id="24" name="TextBox 24"/>
          <p:cNvSpPr txBox="1"/>
          <p:nvPr/>
        </p:nvSpPr>
        <p:spPr>
          <a:xfrm>
            <a:off x="11563469" y="4511877"/>
            <a:ext cx="609820" cy="538767"/>
          </a:xfrm>
          <a:prstGeom prst="rect">
            <a:avLst/>
          </a:prstGeom>
        </p:spPr>
        <p:txBody>
          <a:bodyPr lIns="0" tIns="0" rIns="0" bIns="0" rtlCol="0" anchor="t">
            <a:spAutoFit/>
          </a:bodyPr>
          <a:lstStyle/>
          <a:p>
            <a:pPr algn="ctr">
              <a:lnSpc>
                <a:spcPts val="4340"/>
              </a:lnSpc>
            </a:pPr>
            <a:r>
              <a:rPr lang="en-US" sz="3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4G</a:t>
            </a:r>
            <a:endParaRPr lang="en-US" sz="3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grpSp>
        <p:nvGrpSpPr>
          <p:cNvPr id="25" name="Group 25"/>
          <p:cNvGrpSpPr>
            <a:grpSpLocks noChangeAspect="1"/>
          </p:cNvGrpSpPr>
          <p:nvPr/>
        </p:nvGrpSpPr>
        <p:grpSpPr>
          <a:xfrm rot="0">
            <a:off x="14799892" y="4350938"/>
            <a:ext cx="927320" cy="927320"/>
            <a:chOff x="0" y="0"/>
            <a:chExt cx="6355080" cy="6355080"/>
          </a:xfrm>
        </p:grpSpPr>
        <p:sp>
          <p:nvSpPr>
            <p:cNvPr id="26" name="Freeform 26"/>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EC0DA"/>
            </a:solidFill>
          </p:spPr>
        </p:sp>
      </p:grpSp>
      <p:sp>
        <p:nvSpPr>
          <p:cNvPr id="27" name="TextBox 27"/>
          <p:cNvSpPr txBox="1"/>
          <p:nvPr/>
        </p:nvSpPr>
        <p:spPr>
          <a:xfrm>
            <a:off x="14958642" y="4511877"/>
            <a:ext cx="609820" cy="538767"/>
          </a:xfrm>
          <a:prstGeom prst="rect">
            <a:avLst/>
          </a:prstGeom>
        </p:spPr>
        <p:txBody>
          <a:bodyPr lIns="0" tIns="0" rIns="0" bIns="0" rtlCol="0" anchor="t">
            <a:spAutoFit/>
          </a:bodyPr>
          <a:lstStyle/>
          <a:p>
            <a:pPr algn="ctr">
              <a:lnSpc>
                <a:spcPts val="4340"/>
              </a:lnSpc>
            </a:pPr>
            <a:r>
              <a:rPr lang="en-US" sz="3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5G</a:t>
            </a:r>
            <a:endParaRPr lang="en-US" sz="3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1887200" y="0"/>
            <a:ext cx="6400800" cy="10287000"/>
          </a:xfrm>
          <a:custGeom>
            <a:avLst/>
            <a:gdLst/>
            <a:ahLst/>
            <a:cxnLst/>
            <a:rect l="l" t="t" r="r" b="b"/>
            <a:pathLst>
              <a:path w="6400800" h="10287000">
                <a:moveTo>
                  <a:pt x="0" y="0"/>
                </a:moveTo>
                <a:lnTo>
                  <a:pt x="6400800" y="0"/>
                </a:lnTo>
                <a:lnTo>
                  <a:pt x="6400800" y="10287000"/>
                </a:lnTo>
                <a:lnTo>
                  <a:pt x="0" y="10287000"/>
                </a:lnTo>
                <a:lnTo>
                  <a:pt x="0" y="0"/>
                </a:lnTo>
                <a:close/>
              </a:path>
            </a:pathLst>
          </a:custGeom>
          <a:blipFill>
            <a:blip r:embed="rId1"/>
            <a:stretch>
              <a:fillRect l="-140996"/>
            </a:stretch>
          </a:blipFill>
        </p:spPr>
      </p:sp>
      <p:grpSp>
        <p:nvGrpSpPr>
          <p:cNvPr id="3" name="Group 3"/>
          <p:cNvGrpSpPr/>
          <p:nvPr/>
        </p:nvGrpSpPr>
        <p:grpSpPr>
          <a:xfrm rot="0">
            <a:off x="609755" y="876604"/>
            <a:ext cx="8122285" cy="7962265"/>
            <a:chOff x="-28787" y="64347"/>
            <a:chExt cx="10829713" cy="10616353"/>
          </a:xfrm>
        </p:grpSpPr>
        <p:sp>
          <p:nvSpPr>
            <p:cNvPr id="4" name="TextBox 4"/>
            <p:cNvSpPr txBox="1"/>
            <p:nvPr/>
          </p:nvSpPr>
          <p:spPr>
            <a:xfrm>
              <a:off x="-28787" y="64347"/>
              <a:ext cx="10829713" cy="1371600"/>
            </a:xfrm>
            <a:prstGeom prst="rect">
              <a:avLst/>
            </a:prstGeom>
          </p:spPr>
          <p:txBody>
            <a:bodyPr wrap="square" lIns="0" tIns="0" rIns="0" bIns="0" rtlCol="0" anchor="t">
              <a:noAutofit/>
            </a:bodyPr>
            <a:lstStyle/>
            <a:p>
              <a:pPr algn="l">
                <a:lnSpc>
                  <a:spcPts val="8640"/>
                </a:lnSpc>
              </a:pPr>
              <a:r>
                <a:rPr lang="en-US" sz="7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What is 4G (LTE)?</a:t>
              </a:r>
              <a:endParaRPr lang="en-US" sz="7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
          <p:nvSpPr>
            <p:cNvPr id="5" name="TextBox 5"/>
            <p:cNvSpPr txBox="1"/>
            <p:nvPr/>
          </p:nvSpPr>
          <p:spPr>
            <a:xfrm>
              <a:off x="0" y="2355215"/>
              <a:ext cx="10380052" cy="8325485"/>
            </a:xfrm>
            <a:prstGeom prst="rect">
              <a:avLst/>
            </a:prstGeom>
          </p:spPr>
          <p:txBody>
            <a:bodyPr lIns="0" tIns="0" rIns="0" bIns="0" rtlCol="0" anchor="t">
              <a:spAutoFit/>
            </a:bodyPr>
            <a:lstStyle/>
            <a:p>
              <a:pPr algn="l">
                <a:lnSpc>
                  <a:spcPts val="4200"/>
                </a:lnSpc>
              </a:pPr>
              <a:r>
                <a:rPr lang="en-US" sz="2800">
                  <a:solidFill>
                    <a:srgbClr val="FFFFFF"/>
                  </a:solidFill>
                  <a:latin typeface="Barlow Light" panose="00000400000000000000"/>
                  <a:ea typeface="Barlow Light" panose="00000400000000000000"/>
                  <a:cs typeface="Barlow Light" panose="00000400000000000000"/>
                  <a:sym typeface="Barlow Light" panose="00000400000000000000"/>
                </a:rPr>
                <a:t>4G, short for Fourth Generation, represents a major leap in mobile communication technology, focusing on high-speed internet and seamless data transfer.</a:t>
              </a:r>
              <a:endParaRPr lang="en-US" sz="280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l">
                <a:lnSpc>
                  <a:spcPts val="4200"/>
                </a:lnSpc>
              </a:pPr>
              <a:r>
                <a:rPr lang="en-US" sz="2800">
                  <a:solidFill>
                    <a:srgbClr val="FFFFFF"/>
                  </a:solidFill>
                  <a:latin typeface="Barlow Light" panose="00000400000000000000"/>
                  <a:ea typeface="Barlow Light" panose="00000400000000000000"/>
                  <a:cs typeface="Barlow Light" panose="00000400000000000000"/>
                  <a:sym typeface="Barlow Light" panose="00000400000000000000"/>
                </a:rPr>
                <a:t> It uses LTE (Long Term Evolution) — an advanced wireless standard that delivers faster and more stable connections than previous generations.</a:t>
              </a:r>
              <a:endParaRPr lang="en-US" sz="280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l">
                <a:lnSpc>
                  <a:spcPts val="4200"/>
                </a:lnSpc>
              </a:pPr>
            </a:p>
            <a:p>
              <a:pPr algn="l">
                <a:lnSpc>
                  <a:spcPts val="4200"/>
                </a:lnSpc>
              </a:pPr>
              <a:r>
                <a:rPr lang="en-US" sz="2800">
                  <a:solidFill>
                    <a:srgbClr val="FFFFFF"/>
                  </a:solidFill>
                  <a:latin typeface="Barlow Light" panose="00000400000000000000"/>
                  <a:ea typeface="Barlow Light" panose="00000400000000000000"/>
                  <a:cs typeface="Barlow Light" panose="00000400000000000000"/>
                  <a:sym typeface="Barlow Light" panose="00000400000000000000"/>
                </a:rPr>
                <a:t>Introduced around 2009–2010.</a:t>
              </a:r>
              <a:endParaRPr lang="en-US" sz="280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l">
                <a:lnSpc>
                  <a:spcPts val="4200"/>
                </a:lnSpc>
              </a:pPr>
              <a:r>
                <a:rPr lang="en-US" sz="2800">
                  <a:solidFill>
                    <a:srgbClr val="FFFFFF"/>
                  </a:solidFill>
                  <a:latin typeface="Barlow Light" panose="00000400000000000000"/>
                  <a:ea typeface="Barlow Light" panose="00000400000000000000"/>
                  <a:cs typeface="Barlow Light" panose="00000400000000000000"/>
                  <a:sym typeface="Barlow Light" panose="00000400000000000000"/>
                </a:rPr>
                <a:t>Speed: Up to 100 Mbps download.</a:t>
              </a:r>
              <a:endParaRPr lang="en-US" sz="280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l">
                <a:lnSpc>
                  <a:spcPts val="4200"/>
                </a:lnSpc>
              </a:pPr>
              <a:r>
                <a:rPr lang="en-US" sz="2800">
                  <a:solidFill>
                    <a:srgbClr val="FFFFFF"/>
                  </a:solidFill>
                  <a:latin typeface="Barlow Light" panose="00000400000000000000"/>
                  <a:ea typeface="Barlow Light" panose="00000400000000000000"/>
                  <a:cs typeface="Barlow Light" panose="00000400000000000000"/>
                  <a:sym typeface="Barlow Light" panose="00000400000000000000"/>
                </a:rPr>
                <a:t>All-IP architecture for high efficiency.</a:t>
              </a:r>
              <a:endParaRPr lang="en-US" sz="280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l">
                <a:lnSpc>
                  <a:spcPts val="4200"/>
                </a:lnSpc>
              </a:pPr>
              <a:r>
                <a:rPr lang="en-US" sz="2800">
                  <a:solidFill>
                    <a:srgbClr val="FFFFFF"/>
                  </a:solidFill>
                  <a:latin typeface="Barlow Light" panose="00000400000000000000"/>
                  <a:ea typeface="Barlow Light" panose="00000400000000000000"/>
                  <a:cs typeface="Barlow Light" panose="00000400000000000000"/>
                  <a:sym typeface="Barlow Light" panose="00000400000000000000"/>
                </a:rPr>
                <a:t>Supports HD streaming, gaming, and VoLTE.</a:t>
              </a:r>
              <a:endParaRPr lang="en-US" sz="280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028700" y="1028700"/>
            <a:ext cx="10567607" cy="1095375"/>
          </a:xfrm>
          <a:prstGeom prst="rect">
            <a:avLst/>
          </a:prstGeom>
        </p:spPr>
        <p:txBody>
          <a:bodyPr lIns="0" tIns="0" rIns="0" bIns="0" rtlCol="0" anchor="t">
            <a:spAutoFit/>
          </a:bodyPr>
          <a:lstStyle/>
          <a:p>
            <a:pPr algn="l">
              <a:lnSpc>
                <a:spcPts val="8640"/>
              </a:lnSpc>
            </a:pPr>
            <a:r>
              <a:rPr lang="en-US" sz="72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What is </a:t>
            </a:r>
            <a:r>
              <a:rPr lang="en-US" sz="72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5G Technology?</a:t>
            </a:r>
            <a:endParaRPr lang="en-US" sz="72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
        <p:nvSpPr>
          <p:cNvPr id="3" name="TextBox 3"/>
          <p:cNvSpPr txBox="1"/>
          <p:nvPr/>
        </p:nvSpPr>
        <p:spPr>
          <a:xfrm>
            <a:off x="1275593" y="2480114"/>
            <a:ext cx="13970161" cy="7046535"/>
          </a:xfrm>
          <a:prstGeom prst="rect">
            <a:avLst/>
          </a:prstGeom>
        </p:spPr>
        <p:txBody>
          <a:bodyPr lIns="0" tIns="0" rIns="0" bIns="0" rtlCol="0" anchor="t">
            <a:spAutoFit/>
          </a:bodyPr>
          <a:lstStyle/>
          <a:p>
            <a:pPr algn="just">
              <a:lnSpc>
                <a:spcPts val="5235"/>
              </a:lnSpc>
              <a:spcBef>
                <a:spcPct val="0"/>
              </a:spcBef>
            </a:pPr>
            <a:r>
              <a:rPr lang="en-US" sz="3270" b="1">
                <a:solidFill>
                  <a:srgbClr val="FFFFFF"/>
                </a:solidFill>
                <a:latin typeface="Barlow Bold" panose="00000800000000000000"/>
                <a:ea typeface="Barlow Bold" panose="00000800000000000000"/>
                <a:cs typeface="Barlow Bold" panose="00000800000000000000"/>
                <a:sym typeface="Barlow Bold" panose="00000800000000000000"/>
              </a:rPr>
              <a:t>5G,</a:t>
            </a:r>
            <a:r>
              <a:rPr lang="en-US" sz="3270">
                <a:solidFill>
                  <a:srgbClr val="FFFFFF"/>
                </a:solidFill>
                <a:latin typeface="Barlow Light" panose="00000400000000000000"/>
                <a:ea typeface="Barlow Light" panose="00000400000000000000"/>
                <a:cs typeface="Barlow Light" panose="00000400000000000000"/>
                <a:sym typeface="Barlow Light" panose="00000400000000000000"/>
              </a:rPr>
              <a:t> or Fifth Generation Mobile Network, is the latest wireless technol</a:t>
            </a:r>
            <a:r>
              <a:rPr lang="en-US" sz="3270">
                <a:solidFill>
                  <a:srgbClr val="FFFFFF"/>
                </a:solidFill>
                <a:latin typeface="Barlow Light" panose="00000400000000000000"/>
                <a:ea typeface="Barlow Light" panose="00000400000000000000"/>
                <a:cs typeface="Barlow Light" panose="00000400000000000000"/>
                <a:sym typeface="Barlow Light" panose="00000400000000000000"/>
              </a:rPr>
              <a:t>ogy that delivers ultra-fast internet speeds, extremely low latency, and supports massive device connectivity.</a:t>
            </a:r>
            <a:endParaRPr lang="en-US" sz="327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just">
              <a:lnSpc>
                <a:spcPts val="5235"/>
              </a:lnSpc>
              <a:spcBef>
                <a:spcPct val="0"/>
              </a:spcBef>
            </a:pPr>
            <a:r>
              <a:rPr lang="en-US" sz="3270">
                <a:solidFill>
                  <a:srgbClr val="FFFFFF"/>
                </a:solidFill>
                <a:latin typeface="Barlow Light" panose="00000400000000000000"/>
                <a:ea typeface="Barlow Light" panose="00000400000000000000"/>
                <a:cs typeface="Barlow Light" panose="00000400000000000000"/>
                <a:sym typeface="Barlow Light" panose="00000400000000000000"/>
              </a:rPr>
              <a:t>Introduced around 2019–2020, it can reach speeds up to 10 Gbps with latency of less than 1 millisecond, enabling real-time communication.</a:t>
            </a:r>
            <a:endParaRPr lang="en-US" sz="327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just">
              <a:lnSpc>
                <a:spcPts val="5235"/>
              </a:lnSpc>
              <a:spcBef>
                <a:spcPct val="0"/>
              </a:spcBef>
            </a:pPr>
            <a:r>
              <a:rPr lang="en-US" sz="3270">
                <a:solidFill>
                  <a:srgbClr val="FFFFFF"/>
                </a:solidFill>
                <a:latin typeface="Barlow Light" panose="00000400000000000000"/>
                <a:ea typeface="Barlow Light" panose="00000400000000000000"/>
                <a:cs typeface="Barlow Light" panose="00000400000000000000"/>
                <a:sym typeface="Barlow Light" panose="00000400000000000000"/>
              </a:rPr>
              <a:t> 5G supports new technologies like smart cities, autonomous vehicles, IoT, and remote healthcare through its three key service types:</a:t>
            </a:r>
            <a:endParaRPr lang="en-US" sz="3270">
              <a:solidFill>
                <a:srgbClr val="FFFFFF"/>
              </a:solidFill>
              <a:latin typeface="Barlow Light" panose="00000400000000000000"/>
              <a:ea typeface="Barlow Light" panose="00000400000000000000"/>
              <a:cs typeface="Barlow Light" panose="00000400000000000000"/>
              <a:sym typeface="Barlow Light" panose="00000400000000000000"/>
            </a:endParaRPr>
          </a:p>
          <a:p>
            <a:pPr marL="706120" lvl="1" indent="-353060" algn="just">
              <a:lnSpc>
                <a:spcPts val="5235"/>
              </a:lnSpc>
              <a:spcBef>
                <a:spcPct val="0"/>
              </a:spcBef>
              <a:buFont typeface="Arial" panose="020B0604020202020204"/>
              <a:buChar char="•"/>
            </a:pPr>
            <a:r>
              <a:rPr lang="en-US" sz="3270" b="1">
                <a:solidFill>
                  <a:srgbClr val="FFFFFF"/>
                </a:solidFill>
                <a:latin typeface="Barlow Bold" panose="00000800000000000000"/>
                <a:ea typeface="Barlow Bold" panose="00000800000000000000"/>
                <a:cs typeface="Barlow Bold" panose="00000800000000000000"/>
                <a:sym typeface="Barlow Bold" panose="00000800000000000000"/>
              </a:rPr>
              <a:t>eMBB</a:t>
            </a:r>
            <a:r>
              <a:rPr lang="en-US" sz="3270">
                <a:solidFill>
                  <a:srgbClr val="FFFFFF"/>
                </a:solidFill>
                <a:latin typeface="Barlow Light" panose="00000400000000000000"/>
                <a:ea typeface="Barlow Light" panose="00000400000000000000"/>
                <a:cs typeface="Barlow Light" panose="00000400000000000000"/>
                <a:sym typeface="Barlow Light" panose="00000400000000000000"/>
              </a:rPr>
              <a:t> (Enhanced Mobile Broadband)</a:t>
            </a:r>
            <a:endParaRPr lang="en-US" sz="3270">
              <a:solidFill>
                <a:srgbClr val="FFFFFF"/>
              </a:solidFill>
              <a:latin typeface="Barlow Light" panose="00000400000000000000"/>
              <a:ea typeface="Barlow Light" panose="00000400000000000000"/>
              <a:cs typeface="Barlow Light" panose="00000400000000000000"/>
              <a:sym typeface="Barlow Light" panose="00000400000000000000"/>
            </a:endParaRPr>
          </a:p>
          <a:p>
            <a:pPr marL="706120" lvl="1" indent="-353060" algn="just">
              <a:lnSpc>
                <a:spcPts val="5235"/>
              </a:lnSpc>
              <a:spcBef>
                <a:spcPct val="0"/>
              </a:spcBef>
              <a:buFont typeface="Arial" panose="020B0604020202020204"/>
              <a:buChar char="•"/>
            </a:pPr>
            <a:r>
              <a:rPr lang="en-US" sz="3270" b="1">
                <a:solidFill>
                  <a:srgbClr val="FFFFFF"/>
                </a:solidFill>
                <a:latin typeface="Barlow Bold" panose="00000800000000000000"/>
                <a:ea typeface="Barlow Bold" panose="00000800000000000000"/>
                <a:cs typeface="Barlow Bold" panose="00000800000000000000"/>
                <a:sym typeface="Barlow Bold" panose="00000800000000000000"/>
              </a:rPr>
              <a:t>URLLC</a:t>
            </a:r>
            <a:r>
              <a:rPr lang="en-US" sz="3270">
                <a:solidFill>
                  <a:srgbClr val="FFFFFF"/>
                </a:solidFill>
                <a:latin typeface="Barlow Light" panose="00000400000000000000"/>
                <a:ea typeface="Barlow Light" panose="00000400000000000000"/>
                <a:cs typeface="Barlow Light" panose="00000400000000000000"/>
                <a:sym typeface="Barlow Light" panose="00000400000000000000"/>
              </a:rPr>
              <a:t> (Ultra-Reliable Low Latency Communication)</a:t>
            </a:r>
            <a:endParaRPr lang="en-US" sz="3270">
              <a:solidFill>
                <a:srgbClr val="FFFFFF"/>
              </a:solidFill>
              <a:latin typeface="Barlow Light" panose="00000400000000000000"/>
              <a:ea typeface="Barlow Light" panose="00000400000000000000"/>
              <a:cs typeface="Barlow Light" panose="00000400000000000000"/>
              <a:sym typeface="Barlow Light" panose="00000400000000000000"/>
            </a:endParaRPr>
          </a:p>
          <a:p>
            <a:pPr marL="706120" lvl="1" indent="-353060" algn="just">
              <a:lnSpc>
                <a:spcPts val="5235"/>
              </a:lnSpc>
              <a:spcBef>
                <a:spcPct val="0"/>
              </a:spcBef>
              <a:buFont typeface="Arial" panose="020B0604020202020204"/>
              <a:buChar char="•"/>
            </a:pPr>
            <a:r>
              <a:rPr lang="en-US" sz="3270" b="1">
                <a:solidFill>
                  <a:srgbClr val="FFFFFF"/>
                </a:solidFill>
                <a:latin typeface="Barlow Bold" panose="00000800000000000000"/>
                <a:ea typeface="Barlow Bold" panose="00000800000000000000"/>
                <a:cs typeface="Barlow Bold" panose="00000800000000000000"/>
                <a:sym typeface="Barlow Bold" panose="00000800000000000000"/>
              </a:rPr>
              <a:t>mMTC</a:t>
            </a:r>
            <a:r>
              <a:rPr lang="en-US" sz="3270">
                <a:solidFill>
                  <a:srgbClr val="FFFFFF"/>
                </a:solidFill>
                <a:latin typeface="Barlow Light" panose="00000400000000000000"/>
                <a:ea typeface="Barlow Light" panose="00000400000000000000"/>
                <a:cs typeface="Barlow Light" panose="00000400000000000000"/>
                <a:sym typeface="Barlow Light" panose="00000400000000000000"/>
              </a:rPr>
              <a:t> (Massive Machine-Type Communication)</a:t>
            </a:r>
            <a:endParaRPr lang="en-US" sz="327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just">
              <a:lnSpc>
                <a:spcPts val="3890"/>
              </a:lnSpc>
              <a:spcBef>
                <a:spcPct val="0"/>
              </a:spcBef>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028700" y="1019175"/>
            <a:ext cx="10567607" cy="1133475"/>
          </a:xfrm>
          <a:prstGeom prst="rect">
            <a:avLst/>
          </a:prstGeom>
        </p:spPr>
        <p:txBody>
          <a:bodyPr lIns="0" tIns="0" rIns="0" bIns="0" rtlCol="0" anchor="t">
            <a:spAutoFit/>
          </a:bodyPr>
          <a:lstStyle/>
          <a:p>
            <a:pPr algn="l">
              <a:lnSpc>
                <a:spcPts val="8880"/>
              </a:lnSpc>
            </a:pPr>
            <a:r>
              <a:rPr lang="en-US" sz="74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5G Technology: </a:t>
            </a:r>
            <a:endParaRPr lang="en-US" sz="74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
        <p:nvSpPr>
          <p:cNvPr id="3" name="TextBox 3"/>
          <p:cNvSpPr txBox="1"/>
          <p:nvPr/>
        </p:nvSpPr>
        <p:spPr>
          <a:xfrm>
            <a:off x="1606722" y="2340743"/>
            <a:ext cx="13970161" cy="6746816"/>
          </a:xfrm>
          <a:prstGeom prst="rect">
            <a:avLst/>
          </a:prstGeom>
        </p:spPr>
        <p:txBody>
          <a:bodyPr lIns="0" tIns="0" rIns="0" bIns="0" rtlCol="0" anchor="t">
            <a:spAutoFit/>
          </a:bodyPr>
          <a:lstStyle/>
          <a:p>
            <a:pPr algn="just">
              <a:lnSpc>
                <a:spcPts val="7315"/>
              </a:lnSpc>
            </a:pPr>
            <a:r>
              <a:rPr lang="en-US" sz="4570" b="1">
                <a:solidFill>
                  <a:srgbClr val="FFFFFF"/>
                </a:solidFill>
                <a:latin typeface="Barlow Bold" panose="00000800000000000000"/>
                <a:ea typeface="Barlow Bold" panose="00000800000000000000"/>
                <a:cs typeface="Barlow Bold" panose="00000800000000000000"/>
                <a:sym typeface="Barlow Bold" panose="00000800000000000000"/>
              </a:rPr>
              <a:t>Why It’s Revolutionary:</a:t>
            </a:r>
            <a:endParaRPr lang="en-US" sz="4570" b="1">
              <a:solidFill>
                <a:srgbClr val="FFFFFF"/>
              </a:solidFill>
              <a:latin typeface="Barlow Bold" panose="00000800000000000000"/>
              <a:ea typeface="Barlow Bold" panose="00000800000000000000"/>
              <a:cs typeface="Barlow Bold" panose="00000800000000000000"/>
              <a:sym typeface="Barlow Bold" panose="00000800000000000000"/>
            </a:endParaRPr>
          </a:p>
          <a:p>
            <a:pPr algn="just">
              <a:lnSpc>
                <a:spcPts val="6035"/>
              </a:lnSpc>
              <a:spcBef>
                <a:spcPct val="0"/>
              </a:spcBef>
            </a:pPr>
            <a:r>
              <a:rPr lang="en-US" sz="3770">
                <a:solidFill>
                  <a:srgbClr val="FFFFFF"/>
                </a:solidFill>
                <a:latin typeface="Barlow" panose="00000500000000000000"/>
                <a:ea typeface="Barlow" panose="00000500000000000000"/>
                <a:cs typeface="Barlow" panose="00000500000000000000"/>
                <a:sym typeface="Barlow" panose="00000500000000000000"/>
              </a:rPr>
              <a:t>5G enables smart cities, self-</a:t>
            </a:r>
            <a:r>
              <a:rPr lang="en-US" sz="3770">
                <a:solidFill>
                  <a:srgbClr val="FFFFFF"/>
                </a:solidFill>
                <a:latin typeface="Barlow" panose="00000500000000000000"/>
                <a:ea typeface="Barlow" panose="00000500000000000000"/>
                <a:cs typeface="Barlow" panose="00000500000000000000"/>
                <a:sym typeface="Barlow" panose="00000500000000000000"/>
              </a:rPr>
              <a:t>driving cars, telemedicine, and robotic automation.</a:t>
            </a:r>
            <a:endParaRPr lang="en-US" sz="3770">
              <a:solidFill>
                <a:srgbClr val="FFFFFF"/>
              </a:solidFill>
              <a:latin typeface="Barlow" panose="00000500000000000000"/>
              <a:ea typeface="Barlow" panose="00000500000000000000"/>
              <a:cs typeface="Barlow" panose="00000500000000000000"/>
              <a:sym typeface="Barlow" panose="00000500000000000000"/>
            </a:endParaRPr>
          </a:p>
          <a:p>
            <a:pPr algn="just">
              <a:lnSpc>
                <a:spcPts val="6035"/>
              </a:lnSpc>
              <a:spcBef>
                <a:spcPct val="0"/>
              </a:spcBef>
            </a:pPr>
            <a:r>
              <a:rPr lang="en-US" sz="3770">
                <a:solidFill>
                  <a:srgbClr val="FFFFFF"/>
                </a:solidFill>
                <a:latin typeface="Barlow" panose="00000500000000000000"/>
                <a:ea typeface="Barlow" panose="00000500000000000000"/>
                <a:cs typeface="Barlow" panose="00000500000000000000"/>
                <a:sym typeface="Barlow" panose="00000500000000000000"/>
              </a:rPr>
              <a:t>It connects everything — people, devices, and machines — in real time.</a:t>
            </a:r>
            <a:endParaRPr lang="en-US" sz="3770">
              <a:solidFill>
                <a:srgbClr val="FFFFFF"/>
              </a:solidFill>
              <a:latin typeface="Barlow" panose="00000500000000000000"/>
              <a:ea typeface="Barlow" panose="00000500000000000000"/>
              <a:cs typeface="Barlow" panose="00000500000000000000"/>
              <a:sym typeface="Barlow" panose="00000500000000000000"/>
            </a:endParaRPr>
          </a:p>
          <a:p>
            <a:pPr algn="just">
              <a:lnSpc>
                <a:spcPts val="6035"/>
              </a:lnSpc>
              <a:spcBef>
                <a:spcPct val="0"/>
              </a:spcBef>
            </a:pPr>
            <a:r>
              <a:rPr lang="en-US" sz="3770" b="1">
                <a:solidFill>
                  <a:srgbClr val="FFFFFF"/>
                </a:solidFill>
                <a:latin typeface="Barlow Bold" panose="00000800000000000000"/>
                <a:ea typeface="Barlow Bold" panose="00000800000000000000"/>
                <a:cs typeface="Barlow Bold" panose="00000800000000000000"/>
                <a:sym typeface="Barlow Bold" panose="00000800000000000000"/>
              </a:rPr>
              <a:t>🚗 Example:</a:t>
            </a:r>
            <a:r>
              <a:rPr lang="en-US" sz="3770">
                <a:solidFill>
                  <a:srgbClr val="FFFFFF"/>
                </a:solidFill>
                <a:latin typeface="Barlow" panose="00000500000000000000"/>
                <a:ea typeface="Barlow" panose="00000500000000000000"/>
                <a:cs typeface="Barlow" panose="00000500000000000000"/>
                <a:sym typeface="Barlow" panose="00000500000000000000"/>
              </a:rPr>
              <a:t> </a:t>
            </a:r>
            <a:endParaRPr lang="en-US" sz="3770">
              <a:solidFill>
                <a:srgbClr val="FFFFFF"/>
              </a:solidFill>
              <a:latin typeface="Barlow" panose="00000500000000000000"/>
              <a:ea typeface="Barlow" panose="00000500000000000000"/>
              <a:cs typeface="Barlow" panose="00000500000000000000"/>
              <a:sym typeface="Barlow" panose="00000500000000000000"/>
            </a:endParaRPr>
          </a:p>
          <a:p>
            <a:pPr algn="just">
              <a:lnSpc>
                <a:spcPts val="6035"/>
              </a:lnSpc>
              <a:spcBef>
                <a:spcPct val="0"/>
              </a:spcBef>
            </a:pPr>
            <a:r>
              <a:rPr lang="en-US" sz="3770">
                <a:solidFill>
                  <a:srgbClr val="FFFFFF"/>
                </a:solidFill>
                <a:latin typeface="Barlow" panose="00000500000000000000"/>
                <a:ea typeface="Barlow" panose="00000500000000000000"/>
                <a:cs typeface="Barlow" panose="00000500000000000000"/>
                <a:sym typeface="Barlow" panose="00000500000000000000"/>
              </a:rPr>
              <a:t>A self-driving car communicates instantly with traffic lights and other vehicles to avoid accidents.</a:t>
            </a:r>
            <a:endParaRPr lang="en-US" sz="3770">
              <a:solidFill>
                <a:srgbClr val="FFFFFF"/>
              </a:solidFill>
              <a:latin typeface="Barlow" panose="00000500000000000000"/>
              <a:ea typeface="Barlow" panose="00000500000000000000"/>
              <a:cs typeface="Barlow" panose="00000500000000000000"/>
              <a:sym typeface="Barlow" panose="00000500000000000000"/>
            </a:endParaRPr>
          </a:p>
          <a:p>
            <a:pPr algn="just">
              <a:lnSpc>
                <a:spcPts val="3890"/>
              </a:lnSpc>
              <a:spcBef>
                <a:spcPct val="0"/>
              </a:spcBef>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231999" y="356349"/>
            <a:ext cx="8578691" cy="1076325"/>
          </a:xfrm>
          <a:prstGeom prst="rect">
            <a:avLst/>
          </a:prstGeom>
        </p:spPr>
        <p:txBody>
          <a:bodyPr lIns="0" tIns="0" rIns="0" bIns="0" rtlCol="0" anchor="t">
            <a:spAutoFit/>
          </a:bodyPr>
          <a:lstStyle/>
          <a:p>
            <a:pPr algn="ctr">
              <a:lnSpc>
                <a:spcPts val="8520"/>
              </a:lnSpc>
              <a:spcBef>
                <a:spcPct val="0"/>
              </a:spcBef>
            </a:pPr>
            <a:r>
              <a:rPr lang="en-US" sz="7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4G vs 5G: Real-Life Impact </a:t>
            </a:r>
            <a:endParaRPr lang="en-US" sz="71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
        <p:nvSpPr>
          <p:cNvPr id="3" name="TextBox 3"/>
          <p:cNvSpPr txBox="1"/>
          <p:nvPr/>
        </p:nvSpPr>
        <p:spPr>
          <a:xfrm>
            <a:off x="1752110" y="1914525"/>
            <a:ext cx="9545003" cy="7343775"/>
          </a:xfrm>
          <a:prstGeom prst="rect">
            <a:avLst/>
          </a:prstGeom>
        </p:spPr>
        <p:txBody>
          <a:bodyPr lIns="0" tIns="0" rIns="0" bIns="0" rtlCol="0" anchor="t">
            <a:spAutoFit/>
          </a:bodyPr>
          <a:lstStyle/>
          <a:p>
            <a:pPr algn="just">
              <a:lnSpc>
                <a:spcPts val="5280"/>
              </a:lnSpc>
              <a:spcBef>
                <a:spcPct val="0"/>
              </a:spcBef>
            </a:pPr>
            <a:r>
              <a:rPr lang="en-US" sz="4400" b="1">
                <a:solidFill>
                  <a:srgbClr val="FFFFFF"/>
                </a:solidFill>
                <a:latin typeface="Barlow Condensed Bold" panose="00000806000000000000"/>
                <a:ea typeface="Barlow Condensed Bold" panose="00000806000000000000"/>
                <a:cs typeface="Barlow Condensed Bold" panose="00000806000000000000"/>
                <a:sym typeface="Barlow Condensed Bold" panose="00000806000000000000"/>
              </a:rPr>
              <a:t>Everyday Applications:</a:t>
            </a:r>
            <a:endParaRPr lang="en-US" sz="4400" b="1">
              <a:solidFill>
                <a:srgbClr val="FFFFFF"/>
              </a:solidFill>
              <a:latin typeface="Barlow Condensed Bold" panose="00000806000000000000"/>
              <a:ea typeface="Barlow Condensed Bold" panose="00000806000000000000"/>
              <a:cs typeface="Barlow Condensed Bold" panose="00000806000000000000"/>
              <a:sym typeface="Barlow Condensed Bold" panose="00000806000000000000"/>
            </a:endParaRPr>
          </a:p>
          <a:p>
            <a:pPr algn="just">
              <a:lnSpc>
                <a:spcPts val="5280"/>
              </a:lnSpc>
              <a:spcBef>
                <a:spcPct val="0"/>
              </a:spcBef>
            </a:pPr>
            <a:r>
              <a:rPr lang="en-US" sz="4400" b="1">
                <a:solidFill>
                  <a:srgbClr val="FFFFFF"/>
                </a:solidFill>
                <a:latin typeface="Barlow Condensed Bold" panose="00000806000000000000"/>
                <a:ea typeface="Barlow Condensed Bold" panose="00000806000000000000"/>
                <a:cs typeface="Barlow Condensed Bold" panose="00000806000000000000"/>
                <a:sym typeface="Barlow Condensed Bold" panose="00000806000000000000"/>
              </a:rPr>
              <a:t>4G:</a:t>
            </a:r>
            <a:endParaRPr lang="en-US" sz="4400" b="1">
              <a:solidFill>
                <a:srgbClr val="FFFFFF"/>
              </a:solidFill>
              <a:latin typeface="Barlow Condensed Bold" panose="00000806000000000000"/>
              <a:ea typeface="Barlow Condensed Bold" panose="00000806000000000000"/>
              <a:cs typeface="Barlow Condensed Bold" panose="00000806000000000000"/>
              <a:sym typeface="Barlow Condensed Bold" panose="00000806000000000000"/>
            </a:endParaRPr>
          </a:p>
          <a:p>
            <a:pPr marL="949960" lvl="1" indent="-474980" algn="just">
              <a:lnSpc>
                <a:spcPts val="5280"/>
              </a:lnSpc>
              <a:buFont typeface="Arial" panose="020B0604020202020204"/>
              <a:buChar char="•"/>
            </a:pPr>
            <a:r>
              <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rPr>
              <a:t>High-speed streaming (YouTube, Netflix)</a:t>
            </a:r>
            <a:endPar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949960" lvl="1" indent="-474980" algn="just">
              <a:lnSpc>
                <a:spcPts val="5280"/>
              </a:lnSpc>
              <a:buFont typeface="Arial" panose="020B0604020202020204"/>
              <a:buChar char="•"/>
            </a:pPr>
            <a:r>
              <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rPr>
              <a:t>Mobile banking and digital payments</a:t>
            </a:r>
            <a:endPar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949960" lvl="1" indent="-474980" algn="just">
              <a:lnSpc>
                <a:spcPts val="5280"/>
              </a:lnSpc>
              <a:buFont typeface="Arial" panose="020B0604020202020204"/>
              <a:buChar char="•"/>
            </a:pPr>
            <a:r>
              <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rPr>
              <a:t>Smooth online gaming and social media</a:t>
            </a:r>
            <a:endPar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algn="just">
              <a:lnSpc>
                <a:spcPts val="5280"/>
              </a:lnSpc>
              <a:spcBef>
                <a:spcPct val="0"/>
              </a:spcBef>
            </a:pPr>
            <a:r>
              <a:rPr lang="en-US" sz="4400" b="1">
                <a:solidFill>
                  <a:srgbClr val="FFFFFF"/>
                </a:solidFill>
                <a:latin typeface="Barlow Condensed Bold" panose="00000806000000000000"/>
                <a:ea typeface="Barlow Condensed Bold" panose="00000806000000000000"/>
                <a:cs typeface="Barlow Condensed Bold" panose="00000806000000000000"/>
                <a:sym typeface="Barlow Condensed Bold" panose="00000806000000000000"/>
              </a:rPr>
              <a:t>5G:</a:t>
            </a:r>
            <a:endParaRPr lang="en-US" sz="4400" b="1">
              <a:solidFill>
                <a:srgbClr val="FFFFFF"/>
              </a:solidFill>
              <a:latin typeface="Barlow Condensed Bold" panose="00000806000000000000"/>
              <a:ea typeface="Barlow Condensed Bold" panose="00000806000000000000"/>
              <a:cs typeface="Barlow Condensed Bold" panose="00000806000000000000"/>
              <a:sym typeface="Barlow Condensed Bold" panose="00000806000000000000"/>
            </a:endParaRPr>
          </a:p>
          <a:p>
            <a:pPr marL="949960" lvl="1" indent="-474980" algn="just">
              <a:lnSpc>
                <a:spcPts val="5280"/>
              </a:lnSpc>
              <a:buFont typeface="Arial" panose="020B0604020202020204"/>
              <a:buChar char="•"/>
            </a:pPr>
            <a:r>
              <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rPr>
              <a:t>Smart homes with connected devices</a:t>
            </a:r>
            <a:endPar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949960" lvl="1" indent="-474980" algn="just">
              <a:lnSpc>
                <a:spcPts val="5280"/>
              </a:lnSpc>
              <a:buFont typeface="Arial" panose="020B0604020202020204"/>
              <a:buChar char="•"/>
            </a:pPr>
            <a:r>
              <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rPr>
              <a:t>Autonomous cars and drones</a:t>
            </a:r>
            <a:endPar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949960" lvl="1" indent="-474980" algn="just">
              <a:lnSpc>
                <a:spcPts val="5280"/>
              </a:lnSpc>
              <a:buFont typeface="Arial" panose="020B0604020202020204"/>
              <a:buChar char="•"/>
            </a:pPr>
            <a:r>
              <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rPr>
              <a:t>Telemedicine and remote surgery</a:t>
            </a:r>
            <a:endPar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949960" lvl="1" indent="-474980" algn="just">
              <a:lnSpc>
                <a:spcPts val="5280"/>
              </a:lnSpc>
              <a:buFont typeface="Arial" panose="020B0604020202020204"/>
              <a:buChar char="•"/>
            </a:pPr>
            <a:r>
              <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rPr>
              <a:t>Virtual reality (VR) and augmented reality (AR)</a:t>
            </a:r>
            <a:endPar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949960" lvl="1" indent="-474980" algn="just">
              <a:lnSpc>
                <a:spcPts val="5280"/>
              </a:lnSpc>
              <a:buFont typeface="Arial" panose="020B0604020202020204"/>
              <a:buChar char="•"/>
            </a:pPr>
            <a:r>
              <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rPr>
              <a:t>Industrial automation and robotics</a:t>
            </a:r>
            <a:endParaRPr lang="en-US" sz="440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563386" y="1271528"/>
            <a:ext cx="16896318" cy="6229238"/>
          </a:xfrm>
          <a:prstGeom prst="rect">
            <a:avLst/>
          </a:prstGeom>
        </p:spPr>
        <p:txBody>
          <a:bodyPr lIns="0" tIns="0" rIns="0" bIns="0" rtlCol="0" anchor="t">
            <a:spAutoFit/>
          </a:bodyPr>
          <a:lstStyle/>
          <a:p>
            <a:pPr algn="l">
              <a:lnSpc>
                <a:spcPts val="4970"/>
              </a:lnSpc>
              <a:spcBef>
                <a:spcPct val="0"/>
              </a:spcBef>
            </a:pPr>
            <a:r>
              <a:rPr lang="en-US" sz="4140" b="1">
                <a:solidFill>
                  <a:srgbClr val="FFFFFF"/>
                </a:solidFill>
                <a:latin typeface="Barlow Condensed Bold" panose="00000806000000000000"/>
                <a:ea typeface="Barlow Condensed Bold" panose="00000806000000000000"/>
                <a:cs typeface="Barlow Condensed Bold" panose="00000806000000000000"/>
                <a:sym typeface="Barlow Condensed Bold" panose="00000806000000000000"/>
              </a:rPr>
              <a:t>Ec</a:t>
            </a:r>
            <a:r>
              <a:rPr lang="en-US" sz="4140" b="1">
                <a:solidFill>
                  <a:srgbClr val="FFFFFF"/>
                </a:solidFill>
                <a:latin typeface="Barlow Condensed Bold" panose="00000806000000000000"/>
                <a:ea typeface="Barlow Condensed Bold" panose="00000806000000000000"/>
                <a:cs typeface="Barlow Condensed Bold" panose="00000806000000000000"/>
                <a:sym typeface="Barlow Condensed Bold" panose="00000806000000000000"/>
              </a:rPr>
              <a:t>onomic &amp; Social Impact:</a:t>
            </a:r>
            <a:endParaRPr lang="en-US" sz="4140" b="1">
              <a:solidFill>
                <a:srgbClr val="FFFFFF"/>
              </a:solidFill>
              <a:latin typeface="Barlow Condensed Bold" panose="00000806000000000000"/>
              <a:ea typeface="Barlow Condensed Bold" panose="00000806000000000000"/>
              <a:cs typeface="Barlow Condensed Bold" panose="00000806000000000000"/>
              <a:sym typeface="Barlow Condensed Bold" panose="00000806000000000000"/>
            </a:endParaRPr>
          </a:p>
          <a:p>
            <a:pPr marL="894080" lvl="1" indent="-447040" algn="l">
              <a:lnSpc>
                <a:spcPts val="4970"/>
              </a:lnSpc>
              <a:spcBef>
                <a:spcPct val="0"/>
              </a:spcBef>
              <a:buFont typeface="Arial" panose="020B0604020202020204"/>
              <a:buChar char="•"/>
            </a:pPr>
            <a:r>
              <a:rPr lang="en-US" sz="4140">
                <a:solidFill>
                  <a:srgbClr val="FFFFFF"/>
                </a:solidFill>
                <a:latin typeface="Barlow Condensed" panose="00000506000000000000"/>
                <a:ea typeface="Barlow Condensed" panose="00000506000000000000"/>
                <a:cs typeface="Barlow Condensed" panose="00000506000000000000"/>
                <a:sym typeface="Barlow Condensed" panose="00000506000000000000"/>
              </a:rPr>
              <a:t>4G built the digital economy — e-commerce, food delivery, and video streaming services.</a:t>
            </a:r>
            <a:endParaRPr lang="en-US" sz="414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marL="894080" lvl="1" indent="-447040" algn="l">
              <a:lnSpc>
                <a:spcPts val="4970"/>
              </a:lnSpc>
              <a:spcBef>
                <a:spcPct val="0"/>
              </a:spcBef>
              <a:buFont typeface="Arial" panose="020B0604020202020204"/>
              <a:buChar char="•"/>
            </a:pPr>
            <a:r>
              <a:rPr lang="en-US" sz="4140">
                <a:solidFill>
                  <a:srgbClr val="FFFFFF"/>
                </a:solidFill>
                <a:latin typeface="Barlow Condensed" panose="00000506000000000000"/>
                <a:ea typeface="Barlow Condensed" panose="00000506000000000000"/>
                <a:cs typeface="Barlow Condensed" panose="00000506000000000000"/>
                <a:sym typeface="Barlow Condensed" panose="00000506000000000000"/>
              </a:rPr>
              <a:t>5G will power the smart economy — automation, IoT, and artificial intelligence integration</a:t>
            </a:r>
            <a:endParaRPr lang="en-US" sz="414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algn="l">
              <a:lnSpc>
                <a:spcPts val="4970"/>
              </a:lnSpc>
              <a:spcBef>
                <a:spcPct val="0"/>
              </a:spcBef>
            </a:pPr>
          </a:p>
          <a:p>
            <a:pPr algn="l">
              <a:lnSpc>
                <a:spcPts val="4970"/>
              </a:lnSpc>
              <a:spcBef>
                <a:spcPct val="0"/>
              </a:spcBef>
            </a:pPr>
          </a:p>
          <a:p>
            <a:pPr algn="l">
              <a:lnSpc>
                <a:spcPts val="4970"/>
              </a:lnSpc>
              <a:spcBef>
                <a:spcPct val="0"/>
              </a:spcBef>
            </a:pPr>
            <a:r>
              <a:rPr lang="en-US" sz="4140" b="1">
                <a:solidFill>
                  <a:srgbClr val="FFFFFF"/>
                </a:solidFill>
                <a:latin typeface="Barlow Condensed Bold" panose="00000806000000000000"/>
                <a:ea typeface="Barlow Condensed Bold" panose="00000806000000000000"/>
                <a:cs typeface="Barlow Condensed Bold" panose="00000806000000000000"/>
                <a:sym typeface="Barlow Condensed Bold" panose="00000806000000000000"/>
              </a:rPr>
              <a:t> Real-World Example:</a:t>
            </a:r>
            <a:endParaRPr lang="en-US" sz="4140" b="1">
              <a:solidFill>
                <a:srgbClr val="FFFFFF"/>
              </a:solidFill>
              <a:latin typeface="Barlow Condensed Bold" panose="00000806000000000000"/>
              <a:ea typeface="Barlow Condensed Bold" panose="00000806000000000000"/>
              <a:cs typeface="Barlow Condensed Bold" panose="00000806000000000000"/>
              <a:sym typeface="Barlow Condensed Bold" panose="00000806000000000000"/>
            </a:endParaRPr>
          </a:p>
          <a:p>
            <a:pPr algn="l">
              <a:lnSpc>
                <a:spcPts val="4970"/>
              </a:lnSpc>
              <a:spcBef>
                <a:spcPct val="0"/>
              </a:spcBef>
            </a:pPr>
            <a:r>
              <a:rPr lang="en-US" sz="4140">
                <a:solidFill>
                  <a:srgbClr val="FFFFFF"/>
                </a:solidFill>
                <a:latin typeface="Barlow Condensed" panose="00000506000000000000"/>
                <a:ea typeface="Barlow Condensed" panose="00000506000000000000"/>
                <a:cs typeface="Barlow Condensed" panose="00000506000000000000"/>
                <a:sym typeface="Barlow Condensed" panose="00000506000000000000"/>
              </a:rPr>
              <a:t>🏙 South Korea, China, and the USA are leading in 5G deployment.</a:t>
            </a:r>
            <a:endParaRPr lang="en-US" sz="414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algn="l">
              <a:lnSpc>
                <a:spcPts val="4970"/>
              </a:lnSpc>
              <a:spcBef>
                <a:spcPct val="0"/>
              </a:spcBef>
            </a:pPr>
            <a:r>
              <a:rPr lang="en-US" sz="4140">
                <a:solidFill>
                  <a:srgbClr val="FFFFFF"/>
                </a:solidFill>
                <a:latin typeface="Barlow Condensed" panose="00000506000000000000"/>
                <a:ea typeface="Barlow Condensed" panose="00000506000000000000"/>
                <a:cs typeface="Barlow Condensed" panose="00000506000000000000"/>
                <a:sym typeface="Barlow Condensed" panose="00000506000000000000"/>
              </a:rPr>
              <a:t> Hospitals use 5G for real-time robotic surgeries, while factories use it for automated production.</a:t>
            </a:r>
            <a:endParaRPr lang="en-US" sz="4140">
              <a:solidFill>
                <a:srgbClr val="FFFFFF"/>
              </a:solidFill>
              <a:latin typeface="Barlow Condensed" panose="00000506000000000000"/>
              <a:ea typeface="Barlow Condensed" panose="00000506000000000000"/>
              <a:cs typeface="Barlow Condensed" panose="00000506000000000000"/>
              <a:sym typeface="Barlow Condensed" panose="00000506000000000000"/>
            </a:endParaRPr>
          </a:p>
          <a:p>
            <a:pPr algn="l">
              <a:lnSpc>
                <a:spcPts val="4970"/>
              </a:lnSpc>
              <a:spcBef>
                <a:spcPct val="0"/>
              </a:spcBef>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9861974" y="1028700"/>
            <a:ext cx="7397326" cy="5355966"/>
          </a:xfrm>
          <a:custGeom>
            <a:avLst/>
            <a:gdLst/>
            <a:ahLst/>
            <a:cxnLst/>
            <a:rect l="l" t="t" r="r" b="b"/>
            <a:pathLst>
              <a:path w="7397326" h="5355966">
                <a:moveTo>
                  <a:pt x="0" y="0"/>
                </a:moveTo>
                <a:lnTo>
                  <a:pt x="7397326" y="0"/>
                </a:lnTo>
                <a:lnTo>
                  <a:pt x="7397326" y="5355966"/>
                </a:lnTo>
                <a:lnTo>
                  <a:pt x="0" y="5355966"/>
                </a:lnTo>
                <a:lnTo>
                  <a:pt x="0" y="0"/>
                </a:lnTo>
                <a:close/>
              </a:path>
            </a:pathLst>
          </a:custGeom>
          <a:blipFill>
            <a:blip r:embed="rId1"/>
            <a:stretch>
              <a:fillRect t="-7113" b="-48800"/>
            </a:stretch>
          </a:blipFill>
        </p:spPr>
      </p:sp>
      <p:grpSp>
        <p:nvGrpSpPr>
          <p:cNvPr id="3" name="Group 3"/>
          <p:cNvGrpSpPr/>
          <p:nvPr/>
        </p:nvGrpSpPr>
        <p:grpSpPr>
          <a:xfrm rot="0">
            <a:off x="1028700" y="1180422"/>
            <a:ext cx="6689459" cy="4531305"/>
            <a:chOff x="0" y="0"/>
            <a:chExt cx="8919279" cy="6041740"/>
          </a:xfrm>
        </p:grpSpPr>
        <p:sp>
          <p:nvSpPr>
            <p:cNvPr id="4" name="TextBox 4"/>
            <p:cNvSpPr txBox="1"/>
            <p:nvPr/>
          </p:nvSpPr>
          <p:spPr>
            <a:xfrm>
              <a:off x="0" y="-9525"/>
              <a:ext cx="8919279" cy="3006725"/>
            </a:xfrm>
            <a:prstGeom prst="rect">
              <a:avLst/>
            </a:prstGeom>
          </p:spPr>
          <p:txBody>
            <a:bodyPr lIns="0" tIns="0" rIns="0" bIns="0" rtlCol="0" anchor="t">
              <a:spAutoFit/>
            </a:bodyPr>
            <a:lstStyle/>
            <a:p>
              <a:pPr algn="l">
                <a:lnSpc>
                  <a:spcPts val="8880"/>
                </a:lnSpc>
              </a:pPr>
              <a:r>
                <a:rPr lang="en-US" sz="74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Why 5G Is Better Than 4G</a:t>
              </a:r>
              <a:endParaRPr lang="en-US" sz="74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
          <p:nvSpPr>
            <p:cNvPr id="5" name="TextBox 5"/>
            <p:cNvSpPr txBox="1"/>
            <p:nvPr/>
          </p:nvSpPr>
          <p:spPr>
            <a:xfrm>
              <a:off x="0" y="4002755"/>
              <a:ext cx="7212381" cy="2038985"/>
            </a:xfrm>
            <a:prstGeom prst="rect">
              <a:avLst/>
            </a:prstGeom>
          </p:spPr>
          <p:txBody>
            <a:bodyPr lIns="0" tIns="0" rIns="0" bIns="0" rtlCol="0" anchor="t">
              <a:spAutoFit/>
            </a:bodyPr>
            <a:lstStyle/>
            <a:p>
              <a:pPr algn="l">
                <a:lnSpc>
                  <a:spcPts val="4200"/>
                </a:lnSpc>
              </a:pPr>
              <a:r>
                <a:rPr lang="en-US" sz="2800">
                  <a:solidFill>
                    <a:srgbClr val="FFFFFF"/>
                  </a:solidFill>
                  <a:latin typeface="Barlow Light" panose="00000400000000000000"/>
                  <a:ea typeface="Barlow Light" panose="00000400000000000000"/>
                  <a:cs typeface="Barlow Light" panose="00000400000000000000"/>
                  <a:sym typeface="Barlow Light" panose="00000400000000000000"/>
                </a:rPr>
                <a:t>The next generation of wireless technology that will transform life significantly</a:t>
              </a:r>
              <a:endParaRPr lang="en-US" sz="280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grpSp>
      <p:sp>
        <p:nvSpPr>
          <p:cNvPr id="6" name="TextBox 6"/>
          <p:cNvSpPr txBox="1"/>
          <p:nvPr/>
        </p:nvSpPr>
        <p:spPr>
          <a:xfrm>
            <a:off x="9861974" y="7332345"/>
            <a:ext cx="7068169" cy="1925955"/>
          </a:xfrm>
          <a:prstGeom prst="rect">
            <a:avLst/>
          </a:prstGeom>
        </p:spPr>
        <p:txBody>
          <a:bodyPr lIns="0" tIns="0" rIns="0" bIns="0" rtlCol="0" anchor="t">
            <a:spAutoFit/>
          </a:bodyPr>
          <a:lstStyle/>
          <a:p>
            <a:pPr algn="l">
              <a:lnSpc>
                <a:spcPts val="3840"/>
              </a:lnSpc>
            </a:pPr>
            <a:r>
              <a:rPr lang="en-US" sz="2400">
                <a:solidFill>
                  <a:srgbClr val="FFFFFF"/>
                </a:solidFill>
                <a:latin typeface="Barlow Light" panose="00000400000000000000"/>
                <a:ea typeface="Barlow Light" panose="00000400000000000000"/>
                <a:cs typeface="Barlow Light" panose="00000400000000000000"/>
                <a:sym typeface="Barlow Light" panose="00000400000000000000"/>
              </a:rPr>
              <a:t>5G technology guarantees a faster and smoother transmission of data, no matter how high the amount. Users can look forward to faster downloads and better support for more connected devices.</a:t>
            </a:r>
            <a:endParaRPr lang="en-US" sz="240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grpSp>
        <p:nvGrpSpPr>
          <p:cNvPr id="2" name="Group 2"/>
          <p:cNvGrpSpPr/>
          <p:nvPr/>
        </p:nvGrpSpPr>
        <p:grpSpPr>
          <a:xfrm rot="0">
            <a:off x="7946317" y="1758569"/>
            <a:ext cx="162052" cy="162052"/>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EC0DA"/>
            </a:solidFill>
          </p:spPr>
        </p:sp>
      </p:grpSp>
      <p:grpSp>
        <p:nvGrpSpPr>
          <p:cNvPr id="4" name="Group 4"/>
          <p:cNvGrpSpPr/>
          <p:nvPr/>
        </p:nvGrpSpPr>
        <p:grpSpPr>
          <a:xfrm rot="0">
            <a:off x="7946317" y="2904426"/>
            <a:ext cx="162052" cy="162052"/>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EC0DA"/>
            </a:solidFill>
          </p:spPr>
        </p:sp>
      </p:grpSp>
      <p:grpSp>
        <p:nvGrpSpPr>
          <p:cNvPr id="6" name="Group 6"/>
          <p:cNvGrpSpPr/>
          <p:nvPr/>
        </p:nvGrpSpPr>
        <p:grpSpPr>
          <a:xfrm rot="0">
            <a:off x="7946317" y="4068699"/>
            <a:ext cx="162052" cy="162052"/>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EC0DA"/>
            </a:solidFill>
          </p:spPr>
        </p:sp>
      </p:grpSp>
      <p:grpSp>
        <p:nvGrpSpPr>
          <p:cNvPr id="8" name="Group 8"/>
          <p:cNvGrpSpPr/>
          <p:nvPr/>
        </p:nvGrpSpPr>
        <p:grpSpPr>
          <a:xfrm rot="0">
            <a:off x="7946317" y="6242939"/>
            <a:ext cx="162052" cy="162052"/>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EC0DA"/>
            </a:solidFill>
          </p:spPr>
        </p:sp>
      </p:grpSp>
      <p:grpSp>
        <p:nvGrpSpPr>
          <p:cNvPr id="10" name="Group 10"/>
          <p:cNvGrpSpPr/>
          <p:nvPr/>
        </p:nvGrpSpPr>
        <p:grpSpPr>
          <a:xfrm rot="0">
            <a:off x="7946317" y="7344981"/>
            <a:ext cx="162052" cy="162052"/>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EC0DA"/>
            </a:solidFill>
          </p:spPr>
        </p:sp>
      </p:grpSp>
      <p:grpSp>
        <p:nvGrpSpPr>
          <p:cNvPr id="12" name="Group 12"/>
          <p:cNvGrpSpPr/>
          <p:nvPr/>
        </p:nvGrpSpPr>
        <p:grpSpPr>
          <a:xfrm rot="0">
            <a:off x="7946317" y="8490839"/>
            <a:ext cx="162052" cy="162052"/>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EC0DA"/>
            </a:solidFill>
          </p:spPr>
        </p:sp>
      </p:grpSp>
      <p:sp>
        <p:nvSpPr>
          <p:cNvPr id="14" name="TextBox 14"/>
          <p:cNvSpPr txBox="1"/>
          <p:nvPr/>
        </p:nvSpPr>
        <p:spPr>
          <a:xfrm>
            <a:off x="8788922" y="1367155"/>
            <a:ext cx="7853149" cy="843280"/>
          </a:xfrm>
          <a:prstGeom prst="rect">
            <a:avLst/>
          </a:prstGeom>
        </p:spPr>
        <p:txBody>
          <a:bodyPr lIns="0" tIns="0" rIns="0" bIns="0" rtlCol="0" anchor="t">
            <a:spAutoFit/>
          </a:bodyPr>
          <a:lstStyle/>
          <a:p>
            <a:pPr algn="l">
              <a:lnSpc>
                <a:spcPts val="3395"/>
              </a:lnSpc>
            </a:pPr>
            <a:r>
              <a:rPr lang="en-US" sz="2425">
                <a:solidFill>
                  <a:srgbClr val="FFFFFF"/>
                </a:solidFill>
                <a:latin typeface="Barlow Light" panose="00000400000000000000"/>
                <a:ea typeface="Barlow Light" panose="00000400000000000000"/>
                <a:cs typeface="Barlow Light" panose="00000400000000000000"/>
                <a:sym typeface="Barlow Light" panose="00000400000000000000"/>
              </a:rPr>
              <a:t>The pre-5G internet experience was slower and limited to certain spectrum types.</a:t>
            </a:r>
            <a:endParaRPr lang="en-US" sz="2425">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15" name="TextBox 15"/>
          <p:cNvSpPr txBox="1"/>
          <p:nvPr/>
        </p:nvSpPr>
        <p:spPr>
          <a:xfrm>
            <a:off x="8788922" y="2513013"/>
            <a:ext cx="7853149" cy="843280"/>
          </a:xfrm>
          <a:prstGeom prst="rect">
            <a:avLst/>
          </a:prstGeom>
        </p:spPr>
        <p:txBody>
          <a:bodyPr lIns="0" tIns="0" rIns="0" bIns="0" rtlCol="0" anchor="t">
            <a:spAutoFit/>
          </a:bodyPr>
          <a:lstStyle/>
          <a:p>
            <a:pPr algn="l">
              <a:lnSpc>
                <a:spcPts val="3395"/>
              </a:lnSpc>
            </a:pPr>
            <a:r>
              <a:rPr lang="en-US" sz="2425">
                <a:solidFill>
                  <a:srgbClr val="FFFFFF"/>
                </a:solidFill>
                <a:latin typeface="Barlow Light" panose="00000400000000000000"/>
                <a:ea typeface="Barlow Light" panose="00000400000000000000"/>
                <a:cs typeface="Barlow Light" panose="00000400000000000000"/>
                <a:sym typeface="Barlow Light" panose="00000400000000000000"/>
              </a:rPr>
              <a:t>Previous mobile network generations did not entirely support new services that rely heavily on communications.</a:t>
            </a:r>
            <a:endParaRPr lang="en-US" sz="2425">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16" name="TextBox 16"/>
          <p:cNvSpPr txBox="1"/>
          <p:nvPr/>
        </p:nvSpPr>
        <p:spPr>
          <a:xfrm>
            <a:off x="8788922" y="3677285"/>
            <a:ext cx="7853149" cy="843280"/>
          </a:xfrm>
          <a:prstGeom prst="rect">
            <a:avLst/>
          </a:prstGeom>
        </p:spPr>
        <p:txBody>
          <a:bodyPr lIns="0" tIns="0" rIns="0" bIns="0" rtlCol="0" anchor="t">
            <a:spAutoFit/>
          </a:bodyPr>
          <a:lstStyle/>
          <a:p>
            <a:pPr algn="l">
              <a:lnSpc>
                <a:spcPts val="3395"/>
              </a:lnSpc>
            </a:pPr>
            <a:r>
              <a:rPr lang="en-US" sz="2425">
                <a:solidFill>
                  <a:srgbClr val="FFFFFF"/>
                </a:solidFill>
                <a:latin typeface="Barlow Light" panose="00000400000000000000"/>
                <a:ea typeface="Barlow Light" panose="00000400000000000000"/>
                <a:cs typeface="Barlow Light" panose="00000400000000000000"/>
                <a:sym typeface="Barlow Light" panose="00000400000000000000"/>
              </a:rPr>
              <a:t>There were significantly more issues and limitations to availability and reliability.</a:t>
            </a:r>
            <a:endParaRPr lang="en-US" sz="2425">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17" name="TextBox 17"/>
          <p:cNvSpPr txBox="1"/>
          <p:nvPr/>
        </p:nvSpPr>
        <p:spPr>
          <a:xfrm>
            <a:off x="1028700" y="1405255"/>
            <a:ext cx="4933138" cy="2257425"/>
          </a:xfrm>
          <a:prstGeom prst="rect">
            <a:avLst/>
          </a:prstGeom>
        </p:spPr>
        <p:txBody>
          <a:bodyPr lIns="0" tIns="0" rIns="0" bIns="0" rtlCol="0" anchor="t">
            <a:spAutoFit/>
          </a:bodyPr>
          <a:lstStyle/>
          <a:p>
            <a:pPr algn="l">
              <a:lnSpc>
                <a:spcPts val="8880"/>
              </a:lnSpc>
            </a:pPr>
            <a:r>
              <a:rPr lang="en-US" sz="74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Before 5G Technology</a:t>
            </a:r>
            <a:endParaRPr lang="en-US" sz="74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
        <p:nvSpPr>
          <p:cNvPr id="18" name="TextBox 18"/>
          <p:cNvSpPr txBox="1"/>
          <p:nvPr/>
        </p:nvSpPr>
        <p:spPr>
          <a:xfrm>
            <a:off x="8788922" y="5851525"/>
            <a:ext cx="7853149" cy="843280"/>
          </a:xfrm>
          <a:prstGeom prst="rect">
            <a:avLst/>
          </a:prstGeom>
        </p:spPr>
        <p:txBody>
          <a:bodyPr lIns="0" tIns="0" rIns="0" bIns="0" rtlCol="0" anchor="t">
            <a:spAutoFit/>
          </a:bodyPr>
          <a:lstStyle/>
          <a:p>
            <a:pPr algn="l">
              <a:lnSpc>
                <a:spcPts val="3395"/>
              </a:lnSpc>
            </a:pPr>
            <a:r>
              <a:rPr lang="en-US" sz="2425">
                <a:solidFill>
                  <a:srgbClr val="FFFFFF"/>
                </a:solidFill>
                <a:latin typeface="Barlow Light" panose="00000400000000000000"/>
                <a:ea typeface="Barlow Light" panose="00000400000000000000"/>
                <a:cs typeface="Barlow Light" panose="00000400000000000000"/>
                <a:sym typeface="Barlow Light" panose="00000400000000000000"/>
              </a:rPr>
              <a:t>The pre-5G internet experience was slower and limited to certain spectrum types.</a:t>
            </a:r>
            <a:endParaRPr lang="en-US" sz="2425">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19" name="TextBox 19"/>
          <p:cNvSpPr txBox="1"/>
          <p:nvPr/>
        </p:nvSpPr>
        <p:spPr>
          <a:xfrm>
            <a:off x="8788922" y="6953568"/>
            <a:ext cx="7853149" cy="843280"/>
          </a:xfrm>
          <a:prstGeom prst="rect">
            <a:avLst/>
          </a:prstGeom>
        </p:spPr>
        <p:txBody>
          <a:bodyPr lIns="0" tIns="0" rIns="0" bIns="0" rtlCol="0" anchor="t">
            <a:spAutoFit/>
          </a:bodyPr>
          <a:lstStyle/>
          <a:p>
            <a:pPr algn="l">
              <a:lnSpc>
                <a:spcPts val="3395"/>
              </a:lnSpc>
            </a:pPr>
            <a:r>
              <a:rPr lang="en-US" sz="2425">
                <a:solidFill>
                  <a:srgbClr val="FFFFFF"/>
                </a:solidFill>
                <a:latin typeface="Barlow Light" panose="00000400000000000000"/>
                <a:ea typeface="Barlow Light" panose="00000400000000000000"/>
                <a:cs typeface="Barlow Light" panose="00000400000000000000"/>
                <a:sym typeface="Barlow Light" panose="00000400000000000000"/>
              </a:rPr>
              <a:t>Previous mobile network generations did not entirely support new services that rely heavily on communications.</a:t>
            </a:r>
            <a:endParaRPr lang="en-US" sz="2425">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20" name="TextBox 20"/>
          <p:cNvSpPr txBox="1"/>
          <p:nvPr/>
        </p:nvSpPr>
        <p:spPr>
          <a:xfrm>
            <a:off x="8788922" y="8099425"/>
            <a:ext cx="7853149" cy="843280"/>
          </a:xfrm>
          <a:prstGeom prst="rect">
            <a:avLst/>
          </a:prstGeom>
        </p:spPr>
        <p:txBody>
          <a:bodyPr lIns="0" tIns="0" rIns="0" bIns="0" rtlCol="0" anchor="t">
            <a:spAutoFit/>
          </a:bodyPr>
          <a:lstStyle/>
          <a:p>
            <a:pPr algn="l">
              <a:lnSpc>
                <a:spcPts val="3395"/>
              </a:lnSpc>
            </a:pPr>
            <a:r>
              <a:rPr lang="en-US" sz="2425">
                <a:solidFill>
                  <a:srgbClr val="FFFFFF"/>
                </a:solidFill>
                <a:latin typeface="Barlow Light" panose="00000400000000000000"/>
                <a:ea typeface="Barlow Light" panose="00000400000000000000"/>
                <a:cs typeface="Barlow Light" panose="00000400000000000000"/>
                <a:sym typeface="Barlow Light" panose="00000400000000000000"/>
              </a:rPr>
              <a:t>There were significantly more issues and limitations to availability and reliability.</a:t>
            </a:r>
            <a:endParaRPr lang="en-US" sz="2425">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21" name="TextBox 21"/>
          <p:cNvSpPr txBox="1"/>
          <p:nvPr/>
        </p:nvSpPr>
        <p:spPr>
          <a:xfrm>
            <a:off x="1028700" y="5889625"/>
            <a:ext cx="4933138" cy="2257425"/>
          </a:xfrm>
          <a:prstGeom prst="rect">
            <a:avLst/>
          </a:prstGeom>
        </p:spPr>
        <p:txBody>
          <a:bodyPr lIns="0" tIns="0" rIns="0" bIns="0" rtlCol="0" anchor="t">
            <a:spAutoFit/>
          </a:bodyPr>
          <a:lstStyle/>
          <a:p>
            <a:pPr algn="l">
              <a:lnSpc>
                <a:spcPts val="8880"/>
              </a:lnSpc>
            </a:pPr>
            <a:r>
              <a:rPr lang="en-US" sz="74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With 5G Technology</a:t>
            </a:r>
            <a:endParaRPr lang="en-US" sz="74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grpSp>
        <p:nvGrpSpPr>
          <p:cNvPr id="2" name="Group 2"/>
          <p:cNvGrpSpPr/>
          <p:nvPr/>
        </p:nvGrpSpPr>
        <p:grpSpPr>
          <a:xfrm rot="0">
            <a:off x="1028700" y="1028700"/>
            <a:ext cx="15011400" cy="2488648"/>
            <a:chOff x="0" y="0"/>
            <a:chExt cx="20015200" cy="3318197"/>
          </a:xfrm>
        </p:grpSpPr>
        <p:sp>
          <p:nvSpPr>
            <p:cNvPr id="3" name="TextBox 3"/>
            <p:cNvSpPr txBox="1"/>
            <p:nvPr/>
          </p:nvSpPr>
          <p:spPr>
            <a:xfrm>
              <a:off x="0" y="-9525"/>
              <a:ext cx="20015200" cy="1508125"/>
            </a:xfrm>
            <a:prstGeom prst="rect">
              <a:avLst/>
            </a:prstGeom>
          </p:spPr>
          <p:txBody>
            <a:bodyPr lIns="0" tIns="0" rIns="0" bIns="0" rtlCol="0" anchor="t">
              <a:spAutoFit/>
            </a:bodyPr>
            <a:lstStyle/>
            <a:p>
              <a:pPr algn="l">
                <a:lnSpc>
                  <a:spcPts val="8880"/>
                </a:lnSpc>
              </a:pPr>
              <a:r>
                <a:rPr lang="en-US" sz="74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Benefits of 5G for Businesses</a:t>
              </a:r>
              <a:endParaRPr lang="en-US" sz="74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
          <p:nvSpPr>
            <p:cNvPr id="4" name="TextBox 4"/>
            <p:cNvSpPr txBox="1"/>
            <p:nvPr/>
          </p:nvSpPr>
          <p:spPr>
            <a:xfrm>
              <a:off x="0" y="1977712"/>
              <a:ext cx="17139732" cy="1340485"/>
            </a:xfrm>
            <a:prstGeom prst="rect">
              <a:avLst/>
            </a:prstGeom>
          </p:spPr>
          <p:txBody>
            <a:bodyPr lIns="0" tIns="0" rIns="0" bIns="0" rtlCol="0" anchor="t">
              <a:spAutoFit/>
            </a:bodyPr>
            <a:lstStyle/>
            <a:p>
              <a:pPr algn="l">
                <a:lnSpc>
                  <a:spcPts val="4200"/>
                </a:lnSpc>
              </a:pPr>
              <a:r>
                <a:rPr lang="en-US" sz="2800">
                  <a:solidFill>
                    <a:srgbClr val="FFFFFF"/>
                  </a:solidFill>
                  <a:latin typeface="Barlow Light" panose="00000400000000000000"/>
                  <a:ea typeface="Barlow Light" panose="00000400000000000000"/>
                  <a:cs typeface="Barlow Light" panose="00000400000000000000"/>
                  <a:sym typeface="Barlow Light" panose="00000400000000000000"/>
                </a:rPr>
                <a:t>5G technology can support operations to improve processes, produce better results and remain at the top of their game</a:t>
              </a:r>
              <a:endParaRPr lang="en-US" sz="280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grpSp>
      <p:grpSp>
        <p:nvGrpSpPr>
          <p:cNvPr id="5" name="Group 5"/>
          <p:cNvGrpSpPr/>
          <p:nvPr/>
        </p:nvGrpSpPr>
        <p:grpSpPr>
          <a:xfrm rot="0">
            <a:off x="1028700" y="6958255"/>
            <a:ext cx="4779441" cy="2300045"/>
            <a:chOff x="0" y="0"/>
            <a:chExt cx="6372588" cy="3066727"/>
          </a:xfrm>
        </p:grpSpPr>
        <p:sp>
          <p:nvSpPr>
            <p:cNvPr id="6" name="TextBox 6"/>
            <p:cNvSpPr txBox="1"/>
            <p:nvPr/>
          </p:nvSpPr>
          <p:spPr>
            <a:xfrm>
              <a:off x="0" y="-57150"/>
              <a:ext cx="6372588" cy="665903"/>
            </a:xfrm>
            <a:prstGeom prst="rect">
              <a:avLst/>
            </a:prstGeom>
          </p:spPr>
          <p:txBody>
            <a:bodyPr lIns="0" tIns="0" rIns="0" bIns="0" rtlCol="0" anchor="t">
              <a:spAutoFit/>
            </a:bodyPr>
            <a:lstStyle/>
            <a:p>
              <a:pPr algn="l">
                <a:lnSpc>
                  <a:spcPts val="4235"/>
                </a:lnSpc>
              </a:pPr>
              <a:r>
                <a:rPr lang="en-US" sz="3025"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NO NETWORK ISSUES</a:t>
              </a:r>
              <a:endParaRPr lang="en-US" sz="3025"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
          <p:nvSpPr>
            <p:cNvPr id="7" name="TextBox 7"/>
            <p:cNvSpPr txBox="1"/>
            <p:nvPr/>
          </p:nvSpPr>
          <p:spPr>
            <a:xfrm>
              <a:off x="0" y="1020334"/>
              <a:ext cx="6372588" cy="1947333"/>
            </a:xfrm>
            <a:prstGeom prst="rect">
              <a:avLst/>
            </a:prstGeom>
          </p:spPr>
          <p:txBody>
            <a:bodyPr lIns="0" tIns="0" rIns="0" bIns="0" rtlCol="0" anchor="t">
              <a:spAutoFit/>
            </a:bodyPr>
            <a:lstStyle/>
            <a:p>
              <a:pPr algn="l">
                <a:lnSpc>
                  <a:spcPts val="2975"/>
                </a:lnSpc>
              </a:pPr>
              <a:r>
                <a:rPr lang="en-US" sz="2125">
                  <a:solidFill>
                    <a:srgbClr val="FFFFFF"/>
                  </a:solidFill>
                  <a:latin typeface="Barlow Light" panose="00000400000000000000"/>
                  <a:ea typeface="Barlow Light" panose="00000400000000000000"/>
                  <a:cs typeface="Barlow Light" panose="00000400000000000000"/>
                  <a:sym typeface="Barlow Light" panose="00000400000000000000"/>
                </a:rPr>
                <a:t>5G will bring a connection speed that's significantly faster than 4G, meaning more data transfer in less time, promising results without delay.</a:t>
              </a:r>
              <a:endParaRPr lang="en-US" sz="2125">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grpSp>
      <p:grpSp>
        <p:nvGrpSpPr>
          <p:cNvPr id="8" name="Group 8"/>
          <p:cNvGrpSpPr/>
          <p:nvPr/>
        </p:nvGrpSpPr>
        <p:grpSpPr>
          <a:xfrm rot="0">
            <a:off x="6754280" y="6958255"/>
            <a:ext cx="4779441" cy="2278688"/>
            <a:chOff x="0" y="0"/>
            <a:chExt cx="6372588" cy="3038251"/>
          </a:xfrm>
        </p:grpSpPr>
        <p:sp>
          <p:nvSpPr>
            <p:cNvPr id="9" name="TextBox 9"/>
            <p:cNvSpPr txBox="1"/>
            <p:nvPr/>
          </p:nvSpPr>
          <p:spPr>
            <a:xfrm>
              <a:off x="0" y="-57150"/>
              <a:ext cx="6372588" cy="671177"/>
            </a:xfrm>
            <a:prstGeom prst="rect">
              <a:avLst/>
            </a:prstGeom>
          </p:spPr>
          <p:txBody>
            <a:bodyPr lIns="0" tIns="0" rIns="0" bIns="0" rtlCol="0" anchor="t">
              <a:spAutoFit/>
            </a:bodyPr>
            <a:lstStyle/>
            <a:p>
              <a:pPr algn="l">
                <a:lnSpc>
                  <a:spcPts val="4260"/>
                </a:lnSpc>
              </a:pPr>
              <a:r>
                <a:rPr lang="en-US" sz="304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LOWER LATENCY</a:t>
              </a:r>
              <a:endParaRPr lang="en-US" sz="304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
          <p:nvSpPr>
            <p:cNvPr id="10" name="TextBox 10"/>
            <p:cNvSpPr txBox="1"/>
            <p:nvPr/>
          </p:nvSpPr>
          <p:spPr>
            <a:xfrm>
              <a:off x="0" y="1020334"/>
              <a:ext cx="6372588" cy="1981094"/>
            </a:xfrm>
            <a:prstGeom prst="rect">
              <a:avLst/>
            </a:prstGeom>
          </p:spPr>
          <p:txBody>
            <a:bodyPr lIns="0" tIns="0" rIns="0" bIns="0" rtlCol="0" anchor="t">
              <a:spAutoFit/>
            </a:bodyPr>
            <a:lstStyle/>
            <a:p>
              <a:pPr algn="l">
                <a:lnSpc>
                  <a:spcPts val="3000"/>
                </a:lnSpc>
              </a:pPr>
              <a:r>
                <a:rPr lang="en-US" sz="2140">
                  <a:solidFill>
                    <a:srgbClr val="FFFFFF"/>
                  </a:solidFill>
                  <a:latin typeface="Barlow Light" panose="00000400000000000000"/>
                  <a:ea typeface="Barlow Light" panose="00000400000000000000"/>
                  <a:cs typeface="Barlow Light" panose="00000400000000000000"/>
                  <a:sym typeface="Barlow Light" panose="00000400000000000000"/>
                </a:rPr>
                <a:t>Lower latency will improve IoT devices' safety and functionality, allowing real-time viewing and guaranteeing zero lags </a:t>
              </a:r>
              <a:endParaRPr lang="en-US" sz="214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l">
                <a:lnSpc>
                  <a:spcPts val="3000"/>
                </a:lnSpc>
              </a:pPr>
              <a:r>
                <a:rPr lang="en-US" sz="2140">
                  <a:solidFill>
                    <a:srgbClr val="FFFFFF"/>
                  </a:solidFill>
                  <a:latin typeface="Barlow Light" panose="00000400000000000000"/>
                  <a:ea typeface="Barlow Light" panose="00000400000000000000"/>
                  <a:cs typeface="Barlow Light" panose="00000400000000000000"/>
                  <a:sym typeface="Barlow Light" panose="00000400000000000000"/>
                </a:rPr>
                <a:t>in operations.</a:t>
              </a:r>
              <a:endParaRPr lang="en-US" sz="214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grpSp>
      <p:sp>
        <p:nvSpPr>
          <p:cNvPr id="11" name="TextBox 11"/>
          <p:cNvSpPr txBox="1"/>
          <p:nvPr/>
        </p:nvSpPr>
        <p:spPr>
          <a:xfrm>
            <a:off x="12479859" y="6901105"/>
            <a:ext cx="4779441" cy="1055476"/>
          </a:xfrm>
          <a:prstGeom prst="rect">
            <a:avLst/>
          </a:prstGeom>
        </p:spPr>
        <p:txBody>
          <a:bodyPr lIns="0" tIns="0" rIns="0" bIns="0" rtlCol="0" anchor="t">
            <a:spAutoFit/>
          </a:bodyPr>
          <a:lstStyle/>
          <a:p>
            <a:pPr algn="l">
              <a:lnSpc>
                <a:spcPts val="4260"/>
              </a:lnSpc>
            </a:pPr>
            <a:r>
              <a:rPr lang="en-US" sz="304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GREATER DATA CAPACITY</a:t>
            </a:r>
            <a:endParaRPr lang="en-US" sz="304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
        <p:nvSpPr>
          <p:cNvPr id="12" name="TextBox 12"/>
          <p:cNvSpPr txBox="1"/>
          <p:nvPr/>
        </p:nvSpPr>
        <p:spPr>
          <a:xfrm>
            <a:off x="12479859" y="7713980"/>
            <a:ext cx="4779441" cy="1117428"/>
          </a:xfrm>
          <a:prstGeom prst="rect">
            <a:avLst/>
          </a:prstGeom>
        </p:spPr>
        <p:txBody>
          <a:bodyPr lIns="0" tIns="0" rIns="0" bIns="0" rtlCol="0" anchor="t">
            <a:spAutoFit/>
          </a:bodyPr>
          <a:lstStyle/>
          <a:p>
            <a:pPr algn="l">
              <a:lnSpc>
                <a:spcPts val="3000"/>
              </a:lnSpc>
            </a:pPr>
            <a:r>
              <a:rPr lang="en-US" sz="2140">
                <a:solidFill>
                  <a:srgbClr val="FFFFFF"/>
                </a:solidFill>
                <a:latin typeface="Barlow Light" panose="00000400000000000000"/>
                <a:ea typeface="Barlow Light" panose="00000400000000000000"/>
                <a:cs typeface="Barlow Light" panose="00000400000000000000"/>
                <a:sym typeface="Barlow Light" panose="00000400000000000000"/>
              </a:rPr>
              <a:t>5G can support more devices and allow simultaneous data transfer because of its larger spectrum band.</a:t>
            </a:r>
            <a:endParaRPr lang="en-US" sz="2140">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grpSp>
        <p:nvGrpSpPr>
          <p:cNvPr id="13" name="Group 13"/>
          <p:cNvGrpSpPr/>
          <p:nvPr/>
        </p:nvGrpSpPr>
        <p:grpSpPr>
          <a:xfrm rot="0">
            <a:off x="6754280" y="5273123"/>
            <a:ext cx="927320" cy="927320"/>
            <a:chOff x="0" y="0"/>
            <a:chExt cx="1236427" cy="1236427"/>
          </a:xfrm>
        </p:grpSpPr>
        <p:grpSp>
          <p:nvGrpSpPr>
            <p:cNvPr id="14" name="Group 14"/>
            <p:cNvGrpSpPr>
              <a:grpSpLocks noChangeAspect="1"/>
            </p:cNvGrpSpPr>
            <p:nvPr/>
          </p:nvGrpSpPr>
          <p:grpSpPr>
            <a:xfrm rot="0">
              <a:off x="0" y="0"/>
              <a:ext cx="1236427" cy="1236427"/>
              <a:chOff x="0" y="0"/>
              <a:chExt cx="6355080" cy="6355080"/>
            </a:xfrm>
          </p:grpSpPr>
          <p:sp>
            <p:nvSpPr>
              <p:cNvPr id="15" name="Freeform 15"/>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EC0DA"/>
              </a:solidFill>
            </p:spPr>
          </p:sp>
        </p:grpSp>
        <p:sp>
          <p:nvSpPr>
            <p:cNvPr id="16" name="Freeform 16"/>
            <p:cNvSpPr/>
            <p:nvPr/>
          </p:nvSpPr>
          <p:spPr>
            <a:xfrm>
              <a:off x="457602" y="345571"/>
              <a:ext cx="321222" cy="545285"/>
            </a:xfrm>
            <a:custGeom>
              <a:avLst/>
              <a:gdLst/>
              <a:ahLst/>
              <a:cxnLst/>
              <a:rect l="l" t="t" r="r" b="b"/>
              <a:pathLst>
                <a:path w="321222" h="545285">
                  <a:moveTo>
                    <a:pt x="0" y="0"/>
                  </a:moveTo>
                  <a:lnTo>
                    <a:pt x="321223" y="0"/>
                  </a:lnTo>
                  <a:lnTo>
                    <a:pt x="321223" y="545285"/>
                  </a:lnTo>
                  <a:lnTo>
                    <a:pt x="0" y="54528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grpSp>
        <p:nvGrpSpPr>
          <p:cNvPr id="17" name="Group 17"/>
          <p:cNvGrpSpPr/>
          <p:nvPr/>
        </p:nvGrpSpPr>
        <p:grpSpPr>
          <a:xfrm rot="0">
            <a:off x="1246632" y="5273123"/>
            <a:ext cx="927320" cy="927320"/>
            <a:chOff x="0" y="0"/>
            <a:chExt cx="1236427" cy="1236427"/>
          </a:xfrm>
        </p:grpSpPr>
        <p:grpSp>
          <p:nvGrpSpPr>
            <p:cNvPr id="18" name="Group 18"/>
            <p:cNvGrpSpPr>
              <a:grpSpLocks noChangeAspect="1"/>
            </p:cNvGrpSpPr>
            <p:nvPr/>
          </p:nvGrpSpPr>
          <p:grpSpPr>
            <a:xfrm rot="0">
              <a:off x="0" y="0"/>
              <a:ext cx="1236427" cy="1236427"/>
              <a:chOff x="0" y="0"/>
              <a:chExt cx="6355080" cy="6355080"/>
            </a:xfrm>
          </p:grpSpPr>
          <p:sp>
            <p:nvSpPr>
              <p:cNvPr id="19" name="Freeform 19"/>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EC0DA"/>
              </a:solidFill>
            </p:spPr>
          </p:sp>
        </p:grpSp>
        <p:sp>
          <p:nvSpPr>
            <p:cNvPr id="20" name="Freeform 20"/>
            <p:cNvSpPr/>
            <p:nvPr/>
          </p:nvSpPr>
          <p:spPr>
            <a:xfrm>
              <a:off x="320785" y="345661"/>
              <a:ext cx="594857" cy="545106"/>
            </a:xfrm>
            <a:custGeom>
              <a:avLst/>
              <a:gdLst/>
              <a:ahLst/>
              <a:cxnLst/>
              <a:rect l="l" t="t" r="r" b="b"/>
              <a:pathLst>
                <a:path w="594857" h="545106">
                  <a:moveTo>
                    <a:pt x="0" y="0"/>
                  </a:moveTo>
                  <a:lnTo>
                    <a:pt x="594857" y="0"/>
                  </a:lnTo>
                  <a:lnTo>
                    <a:pt x="594857" y="545105"/>
                  </a:lnTo>
                  <a:lnTo>
                    <a:pt x="0" y="5451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grpSp>
        <p:nvGrpSpPr>
          <p:cNvPr id="21" name="Group 21"/>
          <p:cNvGrpSpPr/>
          <p:nvPr/>
        </p:nvGrpSpPr>
        <p:grpSpPr>
          <a:xfrm rot="0">
            <a:off x="12479859" y="5273123"/>
            <a:ext cx="927320" cy="927320"/>
            <a:chOff x="0" y="0"/>
            <a:chExt cx="1236427" cy="1236427"/>
          </a:xfrm>
        </p:grpSpPr>
        <p:grpSp>
          <p:nvGrpSpPr>
            <p:cNvPr id="22" name="Group 22"/>
            <p:cNvGrpSpPr>
              <a:grpSpLocks noChangeAspect="1"/>
            </p:cNvGrpSpPr>
            <p:nvPr/>
          </p:nvGrpSpPr>
          <p:grpSpPr>
            <a:xfrm rot="0">
              <a:off x="0" y="0"/>
              <a:ext cx="1236427" cy="1236427"/>
              <a:chOff x="0" y="0"/>
              <a:chExt cx="6355080" cy="6355080"/>
            </a:xfrm>
          </p:grpSpPr>
          <p:sp>
            <p:nvSpPr>
              <p:cNvPr id="23" name="Freeform 23"/>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EC0DA"/>
              </a:solidFill>
            </p:spPr>
          </p:sp>
        </p:grpSp>
        <p:sp>
          <p:nvSpPr>
            <p:cNvPr id="24" name="Freeform 24"/>
            <p:cNvSpPr/>
            <p:nvPr/>
          </p:nvSpPr>
          <p:spPr>
            <a:xfrm>
              <a:off x="317706" y="345571"/>
              <a:ext cx="601015" cy="545285"/>
            </a:xfrm>
            <a:custGeom>
              <a:avLst/>
              <a:gdLst/>
              <a:ahLst/>
              <a:cxnLst/>
              <a:rect l="l" t="t" r="r" b="b"/>
              <a:pathLst>
                <a:path w="601015" h="545285">
                  <a:moveTo>
                    <a:pt x="0" y="0"/>
                  </a:moveTo>
                  <a:lnTo>
                    <a:pt x="601015" y="0"/>
                  </a:lnTo>
                  <a:lnTo>
                    <a:pt x="601015" y="545285"/>
                  </a:lnTo>
                  <a:lnTo>
                    <a:pt x="0" y="54528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0" y="0"/>
            <a:ext cx="4343400" cy="10287000"/>
          </a:xfrm>
          <a:custGeom>
            <a:avLst/>
            <a:gdLst/>
            <a:ahLst/>
            <a:cxnLst/>
            <a:rect l="l" t="t" r="r" b="b"/>
            <a:pathLst>
              <a:path w="4343400" h="10287000">
                <a:moveTo>
                  <a:pt x="0" y="0"/>
                </a:moveTo>
                <a:lnTo>
                  <a:pt x="4343400" y="0"/>
                </a:lnTo>
                <a:lnTo>
                  <a:pt x="4343400" y="10287000"/>
                </a:lnTo>
                <a:lnTo>
                  <a:pt x="0" y="10287000"/>
                </a:lnTo>
                <a:lnTo>
                  <a:pt x="0" y="0"/>
                </a:lnTo>
                <a:close/>
              </a:path>
            </a:pathLst>
          </a:custGeom>
          <a:blipFill>
            <a:blip r:embed="rId1"/>
            <a:stretch>
              <a:fillRect l="-28947" r="-28947"/>
            </a:stretch>
          </a:blipFill>
        </p:spPr>
      </p:sp>
      <p:sp>
        <p:nvSpPr>
          <p:cNvPr id="3" name="TextBox 3"/>
          <p:cNvSpPr txBox="1"/>
          <p:nvPr/>
        </p:nvSpPr>
        <p:spPr>
          <a:xfrm>
            <a:off x="5805098" y="1714751"/>
            <a:ext cx="8463943" cy="7913377"/>
          </a:xfrm>
          <a:prstGeom prst="rect">
            <a:avLst/>
          </a:prstGeom>
        </p:spPr>
        <p:txBody>
          <a:bodyPr lIns="0" tIns="0" rIns="0" bIns="0" rtlCol="0" anchor="t">
            <a:spAutoFit/>
          </a:bodyPr>
          <a:lstStyle/>
          <a:p>
            <a:pPr algn="l">
              <a:lnSpc>
                <a:spcPts val="4830"/>
              </a:lnSpc>
            </a:pPr>
            <a:r>
              <a:rPr lang="en-US" sz="3450">
                <a:solidFill>
                  <a:srgbClr val="FFFFFF"/>
                </a:solidFill>
                <a:latin typeface="Barlow Light" panose="00000400000000000000"/>
                <a:ea typeface="Barlow Light" panose="00000400000000000000"/>
                <a:cs typeface="Barlow Light" panose="00000400000000000000"/>
                <a:sym typeface="Barlow Light" panose="00000400000000000000"/>
              </a:rPr>
              <a:t>As exciting and appealing as 5G technology is, there are a few cons to it: its impact on battery life, high costs for rollout and imbalance in upload and download speeds.</a:t>
            </a:r>
            <a:endParaRPr lang="en-US" sz="345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l">
              <a:lnSpc>
                <a:spcPts val="4830"/>
              </a:lnSpc>
            </a:pPr>
          </a:p>
          <a:p>
            <a:pPr marL="744855" lvl="1" indent="-372110" algn="l">
              <a:lnSpc>
                <a:spcPts val="4830"/>
              </a:lnSpc>
              <a:buFont typeface="Arial" panose="020B0604020202020204"/>
              <a:buChar char="•"/>
            </a:pPr>
            <a:r>
              <a:rPr lang="en-US" sz="3450">
                <a:solidFill>
                  <a:srgbClr val="FFFFFF"/>
                </a:solidFill>
                <a:latin typeface="Barlow Light" panose="00000400000000000000"/>
                <a:ea typeface="Barlow Light" panose="00000400000000000000"/>
                <a:cs typeface="Barlow Light" panose="00000400000000000000"/>
                <a:sym typeface="Barlow Light" panose="00000400000000000000"/>
              </a:rPr>
              <a:t>High infrastructure and deployment costs.</a:t>
            </a:r>
            <a:endParaRPr lang="en-US" sz="3450">
              <a:solidFill>
                <a:srgbClr val="FFFFFF"/>
              </a:solidFill>
              <a:latin typeface="Barlow Light" panose="00000400000000000000"/>
              <a:ea typeface="Barlow Light" panose="00000400000000000000"/>
              <a:cs typeface="Barlow Light" panose="00000400000000000000"/>
              <a:sym typeface="Barlow Light" panose="00000400000000000000"/>
            </a:endParaRPr>
          </a:p>
          <a:p>
            <a:pPr marL="744855" lvl="1" indent="-372110" algn="l">
              <a:lnSpc>
                <a:spcPts val="4830"/>
              </a:lnSpc>
              <a:buFont typeface="Arial" panose="020B0604020202020204"/>
              <a:buChar char="•"/>
            </a:pPr>
            <a:r>
              <a:rPr lang="en-US" sz="3450">
                <a:solidFill>
                  <a:srgbClr val="FFFFFF"/>
                </a:solidFill>
                <a:latin typeface="Barlow Light" panose="00000400000000000000"/>
                <a:ea typeface="Barlow Light" panose="00000400000000000000"/>
                <a:cs typeface="Barlow Light" panose="00000400000000000000"/>
                <a:sym typeface="Barlow Light" panose="00000400000000000000"/>
              </a:rPr>
              <a:t>Spectrum licensing and interference issues.</a:t>
            </a:r>
            <a:endParaRPr lang="en-US" sz="3450">
              <a:solidFill>
                <a:srgbClr val="FFFFFF"/>
              </a:solidFill>
              <a:latin typeface="Barlow Light" panose="00000400000000000000"/>
              <a:ea typeface="Barlow Light" panose="00000400000000000000"/>
              <a:cs typeface="Barlow Light" panose="00000400000000000000"/>
              <a:sym typeface="Barlow Light" panose="00000400000000000000"/>
            </a:endParaRPr>
          </a:p>
          <a:p>
            <a:pPr marL="744855" lvl="1" indent="-372110" algn="l">
              <a:lnSpc>
                <a:spcPts val="4830"/>
              </a:lnSpc>
              <a:buFont typeface="Arial" panose="020B0604020202020204"/>
              <a:buChar char="•"/>
            </a:pPr>
            <a:r>
              <a:rPr lang="en-US" sz="3450">
                <a:solidFill>
                  <a:srgbClr val="FFFFFF"/>
                </a:solidFill>
                <a:latin typeface="Barlow Light" panose="00000400000000000000"/>
                <a:ea typeface="Barlow Light" panose="00000400000000000000"/>
                <a:cs typeface="Barlow Light" panose="00000400000000000000"/>
                <a:sym typeface="Barlow Light" panose="00000400000000000000"/>
              </a:rPr>
              <a:t>Device compatibility and upgrade costs.</a:t>
            </a:r>
            <a:endParaRPr lang="en-US" sz="3450">
              <a:solidFill>
                <a:srgbClr val="FFFFFF"/>
              </a:solidFill>
              <a:latin typeface="Barlow Light" panose="00000400000000000000"/>
              <a:ea typeface="Barlow Light" panose="00000400000000000000"/>
              <a:cs typeface="Barlow Light" panose="00000400000000000000"/>
              <a:sym typeface="Barlow Light" panose="00000400000000000000"/>
            </a:endParaRPr>
          </a:p>
          <a:p>
            <a:pPr marL="744855" lvl="1" indent="-372110" algn="l">
              <a:lnSpc>
                <a:spcPts val="4830"/>
              </a:lnSpc>
              <a:buFont typeface="Arial" panose="020B0604020202020204"/>
              <a:buChar char="•"/>
            </a:pPr>
            <a:r>
              <a:rPr lang="en-US" sz="3450">
                <a:solidFill>
                  <a:srgbClr val="FFFFFF"/>
                </a:solidFill>
                <a:latin typeface="Barlow Light" panose="00000400000000000000"/>
                <a:ea typeface="Barlow Light" panose="00000400000000000000"/>
                <a:cs typeface="Barlow Light" panose="00000400000000000000"/>
                <a:sym typeface="Barlow Light" panose="00000400000000000000"/>
              </a:rPr>
              <a:t>Cybersecurity and privacy concerns.</a:t>
            </a:r>
            <a:endParaRPr lang="en-US" sz="3450">
              <a:solidFill>
                <a:srgbClr val="FFFFFF"/>
              </a:solidFill>
              <a:latin typeface="Barlow Light" panose="00000400000000000000"/>
              <a:ea typeface="Barlow Light" panose="00000400000000000000"/>
              <a:cs typeface="Barlow Light" panose="00000400000000000000"/>
              <a:sym typeface="Barlow Light" panose="00000400000000000000"/>
            </a:endParaRPr>
          </a:p>
          <a:p>
            <a:pPr algn="l">
              <a:lnSpc>
                <a:spcPts val="4830"/>
              </a:lnSpc>
            </a:pPr>
          </a:p>
          <a:p>
            <a:pPr algn="l">
              <a:lnSpc>
                <a:spcPts val="4830"/>
              </a:lnSpc>
            </a:pPr>
          </a:p>
        </p:txBody>
      </p:sp>
      <p:sp>
        <p:nvSpPr>
          <p:cNvPr id="4" name="TextBox 4"/>
          <p:cNvSpPr txBox="1"/>
          <p:nvPr/>
        </p:nvSpPr>
        <p:spPr>
          <a:xfrm>
            <a:off x="5029200" y="342900"/>
            <a:ext cx="9665970" cy="1139825"/>
          </a:xfrm>
          <a:prstGeom prst="rect">
            <a:avLst/>
          </a:prstGeom>
        </p:spPr>
        <p:txBody>
          <a:bodyPr lIns="0" tIns="0" rIns="0" bIns="0" rtlCol="0" anchor="t">
            <a:noAutofit/>
          </a:bodyPr>
          <a:lstStyle/>
          <a:p>
            <a:pPr algn="ctr">
              <a:lnSpc>
                <a:spcPts val="8280"/>
              </a:lnSpc>
              <a:spcBef>
                <a:spcPct val="0"/>
              </a:spcBef>
            </a:pPr>
            <a:r>
              <a:rPr lang="en-US" sz="5915"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Challenges in 5G Implementation</a:t>
            </a:r>
            <a:endParaRPr lang="en-US" sz="5915"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1028700" y="1020084"/>
            <a:ext cx="4965270" cy="2153285"/>
          </a:xfrm>
          <a:prstGeom prst="rect">
            <a:avLst/>
          </a:prstGeom>
        </p:spPr>
        <p:txBody>
          <a:bodyPr lIns="0" tIns="0" rIns="0" bIns="0" rtlCol="0" anchor="t">
            <a:spAutoFit/>
          </a:bodyPr>
          <a:lstStyle/>
          <a:p>
            <a:pPr algn="l">
              <a:lnSpc>
                <a:spcPts val="5740"/>
              </a:lnSpc>
            </a:pPr>
            <a:r>
              <a:rPr lang="en-US" sz="4100" b="1">
                <a:solidFill>
                  <a:srgbClr val="FFFFFF"/>
                </a:solidFill>
                <a:latin typeface="Barlow Bold" panose="00000800000000000000"/>
                <a:ea typeface="Barlow Bold" panose="00000800000000000000"/>
                <a:cs typeface="Barlow Bold" panose="00000800000000000000"/>
                <a:sym typeface="Barlow Bold" panose="00000800000000000000"/>
              </a:rPr>
              <a:t>Trends and the Future of Telecommunications</a:t>
            </a:r>
            <a:endParaRPr lang="en-US" sz="4100" b="1">
              <a:solidFill>
                <a:srgbClr val="FFFFFF"/>
              </a:solidFill>
              <a:latin typeface="Barlow Bold" panose="00000800000000000000"/>
              <a:ea typeface="Barlow Bold" panose="00000800000000000000"/>
              <a:cs typeface="Barlow Bold" panose="00000800000000000000"/>
              <a:sym typeface="Barlow Bold" panose="00000800000000000000"/>
            </a:endParaRPr>
          </a:p>
        </p:txBody>
      </p:sp>
      <p:sp>
        <p:nvSpPr>
          <p:cNvPr id="3" name="TextBox 3"/>
          <p:cNvSpPr txBox="1"/>
          <p:nvPr/>
        </p:nvSpPr>
        <p:spPr>
          <a:xfrm>
            <a:off x="9144000" y="981075"/>
            <a:ext cx="8115300" cy="1217295"/>
          </a:xfrm>
          <a:prstGeom prst="rect">
            <a:avLst/>
          </a:prstGeom>
        </p:spPr>
        <p:txBody>
          <a:bodyPr lIns="0" tIns="0" rIns="0" bIns="0" rtlCol="0" anchor="t">
            <a:spAutoFit/>
          </a:bodyPr>
          <a:lstStyle/>
          <a:p>
            <a:pPr algn="l">
              <a:lnSpc>
                <a:spcPts val="3255"/>
              </a:lnSpc>
            </a:pPr>
            <a:r>
              <a:rPr lang="en-US" sz="2325">
                <a:solidFill>
                  <a:srgbClr val="FFFFFF"/>
                </a:solidFill>
                <a:latin typeface="Barlow Light" panose="00000400000000000000"/>
                <a:ea typeface="Barlow Light" panose="00000400000000000000"/>
                <a:cs typeface="Barlow Light" panose="00000400000000000000"/>
                <a:sym typeface="Barlow Light" panose="00000400000000000000"/>
              </a:rPr>
              <a:t>Artificial intelligence that keeps behind-the-scenes operations rolling faster will guarantee business optimization like never before.</a:t>
            </a:r>
            <a:endParaRPr lang="en-US" sz="2325">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4" name="TextBox 4"/>
          <p:cNvSpPr txBox="1"/>
          <p:nvPr/>
        </p:nvSpPr>
        <p:spPr>
          <a:xfrm>
            <a:off x="9144000" y="2369026"/>
            <a:ext cx="8115300" cy="807720"/>
          </a:xfrm>
          <a:prstGeom prst="rect">
            <a:avLst/>
          </a:prstGeom>
        </p:spPr>
        <p:txBody>
          <a:bodyPr lIns="0" tIns="0" rIns="0" bIns="0" rtlCol="0" anchor="t">
            <a:spAutoFit/>
          </a:bodyPr>
          <a:lstStyle/>
          <a:p>
            <a:pPr algn="l">
              <a:lnSpc>
                <a:spcPts val="3255"/>
              </a:lnSpc>
            </a:pPr>
            <a:r>
              <a:rPr lang="en-US" sz="2325">
                <a:solidFill>
                  <a:srgbClr val="FFFFFF"/>
                </a:solidFill>
                <a:latin typeface="Barlow Light" panose="00000400000000000000"/>
                <a:ea typeface="Barlow Light" panose="00000400000000000000"/>
                <a:cs typeface="Barlow Light" panose="00000400000000000000"/>
                <a:sym typeface="Barlow Light" panose="00000400000000000000"/>
              </a:rPr>
              <a:t>Robotic Process Automation will significantly reduce error rates and boost customer service/operational efficiency.</a:t>
            </a:r>
            <a:endParaRPr lang="en-US" sz="2325">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5" name="TextBox 5"/>
          <p:cNvSpPr txBox="1"/>
          <p:nvPr/>
        </p:nvSpPr>
        <p:spPr>
          <a:xfrm>
            <a:off x="9144000" y="3756977"/>
            <a:ext cx="8115300" cy="1217295"/>
          </a:xfrm>
          <a:prstGeom prst="rect">
            <a:avLst/>
          </a:prstGeom>
        </p:spPr>
        <p:txBody>
          <a:bodyPr lIns="0" tIns="0" rIns="0" bIns="0" rtlCol="0" anchor="t">
            <a:spAutoFit/>
          </a:bodyPr>
          <a:lstStyle/>
          <a:p>
            <a:pPr algn="l">
              <a:lnSpc>
                <a:spcPts val="3255"/>
              </a:lnSpc>
            </a:pPr>
            <a:r>
              <a:rPr lang="en-US" sz="2325">
                <a:solidFill>
                  <a:srgbClr val="FFFFFF"/>
                </a:solidFill>
                <a:latin typeface="Barlow Light" panose="00000400000000000000"/>
                <a:ea typeface="Barlow Light" panose="00000400000000000000"/>
                <a:cs typeface="Barlow Light" panose="00000400000000000000"/>
                <a:sym typeface="Barlow Light" panose="00000400000000000000"/>
              </a:rPr>
              <a:t>Cloud technology will allow telecoms to operate with more efficiency as this guarantees scalability and cost-effectiveness, allowing them to adjust better to market demands.</a:t>
            </a:r>
            <a:endParaRPr lang="en-US" sz="2325">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6" name="TextBox 6"/>
          <p:cNvSpPr txBox="1"/>
          <p:nvPr/>
        </p:nvSpPr>
        <p:spPr>
          <a:xfrm>
            <a:off x="9144000" y="5535454"/>
            <a:ext cx="8115300" cy="1626870"/>
          </a:xfrm>
          <a:prstGeom prst="rect">
            <a:avLst/>
          </a:prstGeom>
        </p:spPr>
        <p:txBody>
          <a:bodyPr lIns="0" tIns="0" rIns="0" bIns="0" rtlCol="0" anchor="t">
            <a:spAutoFit/>
          </a:bodyPr>
          <a:lstStyle/>
          <a:p>
            <a:pPr algn="l">
              <a:lnSpc>
                <a:spcPts val="3255"/>
              </a:lnSpc>
            </a:pPr>
            <a:r>
              <a:rPr lang="en-US" sz="2325">
                <a:solidFill>
                  <a:srgbClr val="FFFFFF"/>
                </a:solidFill>
                <a:latin typeface="Barlow Light" panose="00000400000000000000"/>
                <a:ea typeface="Barlow Light" panose="00000400000000000000"/>
                <a:cs typeface="Barlow Light" panose="00000400000000000000"/>
                <a:sym typeface="Barlow Light" panose="00000400000000000000"/>
              </a:rPr>
              <a:t>The IoT or the Internet of Things is a technology that helps ensure minimal downtime for data centers and base stations. The telecom industry will continue to develop its services to improve IoT technology.</a:t>
            </a:r>
            <a:endParaRPr lang="en-US" sz="2325">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sp>
        <p:nvSpPr>
          <p:cNvPr id="7" name="TextBox 7"/>
          <p:cNvSpPr txBox="1"/>
          <p:nvPr/>
        </p:nvSpPr>
        <p:spPr>
          <a:xfrm>
            <a:off x="9144000" y="7704455"/>
            <a:ext cx="8115300" cy="1626870"/>
          </a:xfrm>
          <a:prstGeom prst="rect">
            <a:avLst/>
          </a:prstGeom>
        </p:spPr>
        <p:txBody>
          <a:bodyPr lIns="0" tIns="0" rIns="0" bIns="0" rtlCol="0" anchor="t">
            <a:spAutoFit/>
          </a:bodyPr>
          <a:lstStyle/>
          <a:p>
            <a:pPr algn="l">
              <a:lnSpc>
                <a:spcPts val="3255"/>
              </a:lnSpc>
            </a:pPr>
            <a:r>
              <a:rPr lang="en-US" sz="2325">
                <a:solidFill>
                  <a:srgbClr val="FFFFFF"/>
                </a:solidFill>
                <a:latin typeface="Barlow Light" panose="00000400000000000000"/>
                <a:ea typeface="Barlow Light" panose="00000400000000000000"/>
                <a:cs typeface="Barlow Light" panose="00000400000000000000"/>
                <a:sym typeface="Barlow Light" panose="00000400000000000000"/>
              </a:rPr>
              <a:t>In-house software development is crucial in ramping up security and productivity. New software (with new tools and services that shift security efforts) will prevent any technological breach leading to systemwide failures.</a:t>
            </a:r>
            <a:endParaRPr lang="en-US" sz="2325">
              <a:solidFill>
                <a:srgbClr val="FFFFFF"/>
              </a:solidFill>
              <a:latin typeface="Barlow Light" panose="00000400000000000000"/>
              <a:ea typeface="Barlow Light" panose="00000400000000000000"/>
              <a:cs typeface="Barlow Light" panose="00000400000000000000"/>
              <a:sym typeface="Barlow Light" panose="00000400000000000000"/>
            </a:endParaRPr>
          </a:p>
        </p:txBody>
      </p:sp>
      <p:grpSp>
        <p:nvGrpSpPr>
          <p:cNvPr id="8" name="Group 8"/>
          <p:cNvGrpSpPr/>
          <p:nvPr/>
        </p:nvGrpSpPr>
        <p:grpSpPr>
          <a:xfrm rot="0">
            <a:off x="8044883" y="1188217"/>
            <a:ext cx="565379" cy="565379"/>
            <a:chOff x="0" y="0"/>
            <a:chExt cx="753839" cy="753839"/>
          </a:xfrm>
        </p:grpSpPr>
        <p:sp>
          <p:nvSpPr>
            <p:cNvPr id="9" name="TextBox 9"/>
            <p:cNvSpPr txBox="1"/>
            <p:nvPr/>
          </p:nvSpPr>
          <p:spPr>
            <a:xfrm>
              <a:off x="114740" y="118686"/>
              <a:ext cx="524359" cy="459317"/>
            </a:xfrm>
            <a:prstGeom prst="rect">
              <a:avLst/>
            </a:prstGeom>
          </p:spPr>
          <p:txBody>
            <a:bodyPr lIns="0" tIns="0" rIns="0" bIns="0" rtlCol="0" anchor="t">
              <a:spAutoFit/>
            </a:bodyPr>
            <a:lstStyle/>
            <a:p>
              <a:pPr algn="ctr">
                <a:lnSpc>
                  <a:spcPts val="2800"/>
                </a:lnSpc>
              </a:pPr>
              <a:r>
                <a:rPr lang="en-US" sz="20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1</a:t>
              </a:r>
              <a:endParaRPr lang="en-US" sz="20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grpSp>
          <p:nvGrpSpPr>
            <p:cNvPr id="10" name="Group 10"/>
            <p:cNvGrpSpPr>
              <a:grpSpLocks noChangeAspect="1"/>
            </p:cNvGrpSpPr>
            <p:nvPr/>
          </p:nvGrpSpPr>
          <p:grpSpPr>
            <a:xfrm rot="0">
              <a:off x="0" y="0"/>
              <a:ext cx="753839" cy="753839"/>
              <a:chOff x="0" y="0"/>
              <a:chExt cx="6355080" cy="6355080"/>
            </a:xfrm>
          </p:grpSpPr>
          <p:sp>
            <p:nvSpPr>
              <p:cNvPr id="11" name="Freeform 11"/>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EC0DA"/>
              </a:solidFill>
            </p:spPr>
          </p:sp>
        </p:grpSp>
      </p:grpSp>
      <p:grpSp>
        <p:nvGrpSpPr>
          <p:cNvPr id="12" name="Group 12"/>
          <p:cNvGrpSpPr/>
          <p:nvPr/>
        </p:nvGrpSpPr>
        <p:grpSpPr>
          <a:xfrm rot="0">
            <a:off x="8044883" y="2496547"/>
            <a:ext cx="565379" cy="565379"/>
            <a:chOff x="0" y="0"/>
            <a:chExt cx="753839" cy="753839"/>
          </a:xfrm>
        </p:grpSpPr>
        <p:grpSp>
          <p:nvGrpSpPr>
            <p:cNvPr id="13" name="Group 13"/>
            <p:cNvGrpSpPr>
              <a:grpSpLocks noChangeAspect="1"/>
            </p:cNvGrpSpPr>
            <p:nvPr/>
          </p:nvGrpSpPr>
          <p:grpSpPr>
            <a:xfrm rot="0">
              <a:off x="0" y="0"/>
              <a:ext cx="753839" cy="753839"/>
              <a:chOff x="0" y="0"/>
              <a:chExt cx="6355080" cy="6355080"/>
            </a:xfrm>
          </p:grpSpPr>
          <p:sp>
            <p:nvSpPr>
              <p:cNvPr id="14" name="Freeform 14"/>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EC0DA"/>
              </a:solidFill>
            </p:spPr>
          </p:sp>
        </p:grpSp>
        <p:sp>
          <p:nvSpPr>
            <p:cNvPr id="15" name="TextBox 15"/>
            <p:cNvSpPr txBox="1"/>
            <p:nvPr/>
          </p:nvSpPr>
          <p:spPr>
            <a:xfrm>
              <a:off x="114740" y="118686"/>
              <a:ext cx="524359" cy="459317"/>
            </a:xfrm>
            <a:prstGeom prst="rect">
              <a:avLst/>
            </a:prstGeom>
          </p:spPr>
          <p:txBody>
            <a:bodyPr lIns="0" tIns="0" rIns="0" bIns="0" rtlCol="0" anchor="t">
              <a:spAutoFit/>
            </a:bodyPr>
            <a:lstStyle/>
            <a:p>
              <a:pPr algn="ctr">
                <a:lnSpc>
                  <a:spcPts val="2800"/>
                </a:lnSpc>
              </a:pPr>
              <a:r>
                <a:rPr lang="en-US" sz="20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2</a:t>
              </a:r>
              <a:endParaRPr lang="en-US" sz="20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grpSp>
      <p:grpSp>
        <p:nvGrpSpPr>
          <p:cNvPr id="16" name="Group 16"/>
          <p:cNvGrpSpPr/>
          <p:nvPr/>
        </p:nvGrpSpPr>
        <p:grpSpPr>
          <a:xfrm rot="0">
            <a:off x="8044883" y="3804603"/>
            <a:ext cx="565379" cy="565379"/>
            <a:chOff x="0" y="0"/>
            <a:chExt cx="753839" cy="753839"/>
          </a:xfrm>
        </p:grpSpPr>
        <p:grpSp>
          <p:nvGrpSpPr>
            <p:cNvPr id="17" name="Group 17"/>
            <p:cNvGrpSpPr>
              <a:grpSpLocks noChangeAspect="1"/>
            </p:cNvGrpSpPr>
            <p:nvPr/>
          </p:nvGrpSpPr>
          <p:grpSpPr>
            <a:xfrm rot="0">
              <a:off x="0" y="0"/>
              <a:ext cx="753839" cy="753839"/>
              <a:chOff x="0" y="0"/>
              <a:chExt cx="6355080" cy="6355080"/>
            </a:xfrm>
          </p:grpSpPr>
          <p:sp>
            <p:nvSpPr>
              <p:cNvPr id="18" name="Freeform 18"/>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EC0DA"/>
              </a:solidFill>
            </p:spPr>
          </p:sp>
        </p:grpSp>
        <p:sp>
          <p:nvSpPr>
            <p:cNvPr id="19" name="TextBox 19"/>
            <p:cNvSpPr txBox="1"/>
            <p:nvPr/>
          </p:nvSpPr>
          <p:spPr>
            <a:xfrm>
              <a:off x="114740" y="118686"/>
              <a:ext cx="524359" cy="459317"/>
            </a:xfrm>
            <a:prstGeom prst="rect">
              <a:avLst/>
            </a:prstGeom>
          </p:spPr>
          <p:txBody>
            <a:bodyPr lIns="0" tIns="0" rIns="0" bIns="0" rtlCol="0" anchor="t">
              <a:spAutoFit/>
            </a:bodyPr>
            <a:lstStyle/>
            <a:p>
              <a:pPr algn="ctr">
                <a:lnSpc>
                  <a:spcPts val="2800"/>
                </a:lnSpc>
              </a:pPr>
              <a:r>
                <a:rPr lang="en-US" sz="20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3</a:t>
              </a:r>
              <a:endParaRPr lang="en-US" sz="20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grpSp>
      <p:grpSp>
        <p:nvGrpSpPr>
          <p:cNvPr id="20" name="Group 20"/>
          <p:cNvGrpSpPr/>
          <p:nvPr/>
        </p:nvGrpSpPr>
        <p:grpSpPr>
          <a:xfrm rot="0">
            <a:off x="8044883" y="5583079"/>
            <a:ext cx="565379" cy="565379"/>
            <a:chOff x="0" y="0"/>
            <a:chExt cx="753839" cy="753839"/>
          </a:xfrm>
        </p:grpSpPr>
        <p:grpSp>
          <p:nvGrpSpPr>
            <p:cNvPr id="21" name="Group 21"/>
            <p:cNvGrpSpPr>
              <a:grpSpLocks noChangeAspect="1"/>
            </p:cNvGrpSpPr>
            <p:nvPr/>
          </p:nvGrpSpPr>
          <p:grpSpPr>
            <a:xfrm rot="0">
              <a:off x="0" y="0"/>
              <a:ext cx="753839" cy="753839"/>
              <a:chOff x="0" y="0"/>
              <a:chExt cx="6355080" cy="6355080"/>
            </a:xfrm>
          </p:grpSpPr>
          <p:sp>
            <p:nvSpPr>
              <p:cNvPr id="22" name="Freeform 22"/>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EC0DA"/>
              </a:solidFill>
            </p:spPr>
          </p:sp>
        </p:grpSp>
        <p:sp>
          <p:nvSpPr>
            <p:cNvPr id="23" name="TextBox 23"/>
            <p:cNvSpPr txBox="1"/>
            <p:nvPr/>
          </p:nvSpPr>
          <p:spPr>
            <a:xfrm>
              <a:off x="114740" y="118686"/>
              <a:ext cx="524359" cy="459317"/>
            </a:xfrm>
            <a:prstGeom prst="rect">
              <a:avLst/>
            </a:prstGeom>
          </p:spPr>
          <p:txBody>
            <a:bodyPr lIns="0" tIns="0" rIns="0" bIns="0" rtlCol="0" anchor="t">
              <a:spAutoFit/>
            </a:bodyPr>
            <a:lstStyle/>
            <a:p>
              <a:pPr algn="ctr">
                <a:lnSpc>
                  <a:spcPts val="2800"/>
                </a:lnSpc>
              </a:pPr>
              <a:r>
                <a:rPr lang="en-US" sz="20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4</a:t>
              </a:r>
              <a:endParaRPr lang="en-US" sz="20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grpSp>
      <p:grpSp>
        <p:nvGrpSpPr>
          <p:cNvPr id="24" name="Group 24"/>
          <p:cNvGrpSpPr/>
          <p:nvPr/>
        </p:nvGrpSpPr>
        <p:grpSpPr>
          <a:xfrm rot="0">
            <a:off x="8044883" y="7752080"/>
            <a:ext cx="565379" cy="565379"/>
            <a:chOff x="0" y="0"/>
            <a:chExt cx="753839" cy="753839"/>
          </a:xfrm>
        </p:grpSpPr>
        <p:grpSp>
          <p:nvGrpSpPr>
            <p:cNvPr id="25" name="Group 25"/>
            <p:cNvGrpSpPr>
              <a:grpSpLocks noChangeAspect="1"/>
            </p:cNvGrpSpPr>
            <p:nvPr/>
          </p:nvGrpSpPr>
          <p:grpSpPr>
            <a:xfrm rot="0">
              <a:off x="0" y="0"/>
              <a:ext cx="753839" cy="753839"/>
              <a:chOff x="0" y="0"/>
              <a:chExt cx="6355080" cy="6355080"/>
            </a:xfrm>
          </p:grpSpPr>
          <p:sp>
            <p:nvSpPr>
              <p:cNvPr id="26" name="Freeform 26"/>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EC0DA"/>
              </a:solidFill>
            </p:spPr>
          </p:sp>
        </p:grpSp>
        <p:sp>
          <p:nvSpPr>
            <p:cNvPr id="27" name="TextBox 27"/>
            <p:cNvSpPr txBox="1"/>
            <p:nvPr/>
          </p:nvSpPr>
          <p:spPr>
            <a:xfrm>
              <a:off x="114740" y="118686"/>
              <a:ext cx="524359" cy="459317"/>
            </a:xfrm>
            <a:prstGeom prst="rect">
              <a:avLst/>
            </a:prstGeom>
          </p:spPr>
          <p:txBody>
            <a:bodyPr lIns="0" tIns="0" rIns="0" bIns="0" rtlCol="0" anchor="t">
              <a:spAutoFit/>
            </a:bodyPr>
            <a:lstStyle/>
            <a:p>
              <a:pPr algn="ctr">
                <a:lnSpc>
                  <a:spcPts val="2800"/>
                </a:lnSpc>
              </a:pPr>
              <a:r>
                <a:rPr lang="en-US" sz="20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5</a:t>
              </a:r>
              <a:endParaRPr lang="en-US" sz="200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5562600" y="3314700"/>
            <a:ext cx="6847205" cy="2788285"/>
          </a:xfrm>
          <a:prstGeom prst="rect">
            <a:avLst/>
          </a:prstGeom>
        </p:spPr>
        <p:txBody>
          <a:bodyPr lIns="0" tIns="0" rIns="0" bIns="0" rtlCol="0" anchor="t">
            <a:noAutofit/>
          </a:bodyPr>
          <a:lstStyle/>
          <a:p>
            <a:pPr algn="ctr">
              <a:lnSpc>
                <a:spcPts val="18285"/>
              </a:lnSpc>
              <a:spcBef>
                <a:spcPct val="0"/>
              </a:spcBef>
            </a:pPr>
            <a:r>
              <a:rPr lang="en-US" sz="1306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rPr>
              <a:t>Thank You</a:t>
            </a:r>
            <a:endParaRPr lang="en-US" sz="13060" b="1">
              <a:solidFill>
                <a:srgbClr val="FFFFFF"/>
              </a:solidFill>
              <a:latin typeface="Barlow Condensed Semi-Bold" panose="00000706000000000000"/>
              <a:ea typeface="Barlow Condensed Semi-Bold" panose="00000706000000000000"/>
              <a:cs typeface="Barlow Condensed Semi-Bold" panose="00000706000000000000"/>
              <a:sym typeface="Barlow Condensed Semi-Bold" panose="00000706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6072</Words>
  <Application>WPS Presentation</Application>
  <PresentationFormat>On-screen Show (4:3)</PresentationFormat>
  <Paragraphs>195</Paragraphs>
  <Slides>15</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15</vt:i4>
      </vt:variant>
    </vt:vector>
  </HeadingPairs>
  <TitlesOfParts>
    <vt:vector size="29" baseType="lpstr">
      <vt:lpstr>Arial</vt:lpstr>
      <vt:lpstr>SimSun</vt:lpstr>
      <vt:lpstr>Wingdings</vt:lpstr>
      <vt:lpstr>Barlow</vt:lpstr>
      <vt:lpstr>Barlow Bold</vt:lpstr>
      <vt:lpstr>Barlow Light</vt:lpstr>
      <vt:lpstr>Barlow Condensed Semi-Bold</vt:lpstr>
      <vt:lpstr>Barlow Condensed</vt:lpstr>
      <vt:lpstr>Arial</vt:lpstr>
      <vt:lpstr>Barlow Condensed Bold</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5G Technology Presentation in Black Blue Dark Simple Digital Style</dc:title>
  <dc:creator/>
  <cp:lastModifiedBy>jebin</cp:lastModifiedBy>
  <cp:revision>2</cp:revision>
  <dcterms:created xsi:type="dcterms:W3CDTF">2006-08-16T00:00:00Z</dcterms:created>
  <dcterms:modified xsi:type="dcterms:W3CDTF">2025-10-31T07:45:56Z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B618C5B48D0A4DDEB5749BB78BB4AD1B_12</vt:lpwstr>
  </property>
  <property fmtid="{D5CDD505-2E9C-101B-9397-08002B2CF9AE}" pid="3" name="KSOProductBuildVer">
    <vt:lpwstr>2057-12.2.0.22556</vt:lpwstr>
  </property>
</Properties>
</file>